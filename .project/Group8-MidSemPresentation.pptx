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24"/>
  </p:notesMasterIdLst>
  <p:sldIdLst>
    <p:sldId id="256" r:id="rId2"/>
    <p:sldId id="257" r:id="rId3"/>
    <p:sldId id="25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83" r:id="rId15"/>
    <p:sldId id="282" r:id="rId16"/>
    <p:sldId id="281" r:id="rId17"/>
    <p:sldId id="280" r:id="rId18"/>
    <p:sldId id="279" r:id="rId19"/>
    <p:sldId id="284" r:id="rId20"/>
    <p:sldId id="285" r:id="rId21"/>
    <p:sldId id="286" r:id="rId22"/>
    <p:sldId id="287" r:id="rId23"/>
  </p:sldIdLst>
  <p:sldSz cx="18288000" cy="10287000"/>
  <p:notesSz cx="6858000" cy="9144000"/>
  <p:embeddedFontLst>
    <p:embeddedFont>
      <p:font typeface="Inter" panose="020B0604020202020204" charset="0"/>
      <p:regular r:id="rId25"/>
      <p:bold r:id="rId26"/>
      <p:italic r:id="rId27"/>
      <p:boldItalic r:id="rId28"/>
    </p:embeddedFont>
    <p:embeddedFont>
      <p:font typeface="Inter ExtraBold" panose="020B0604020202020204" charset="0"/>
      <p:bold r:id="rId29"/>
      <p:boldItalic r:id="rId30"/>
    </p:embeddedFont>
    <p:embeddedFont>
      <p:font typeface="Inter SemiBold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EFE5"/>
    <a:srgbClr val="2532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74D5840D-25B9-AE33-0FCE-E7881441B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>
            <a:extLst>
              <a:ext uri="{FF2B5EF4-FFF2-40B4-BE49-F238E27FC236}">
                <a16:creationId xmlns:a16="http://schemas.microsoft.com/office/drawing/2014/main" id="{7B22148C-CDED-587C-DC0A-BFB681CBCB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:notes">
            <a:extLst>
              <a:ext uri="{FF2B5EF4-FFF2-40B4-BE49-F238E27FC236}">
                <a16:creationId xmlns:a16="http://schemas.microsoft.com/office/drawing/2014/main" id="{E28D3421-6192-E186-BFAA-CF3DB1CF97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737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8419295A-EF38-133B-BC7A-CFD0249EB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>
            <a:extLst>
              <a:ext uri="{FF2B5EF4-FFF2-40B4-BE49-F238E27FC236}">
                <a16:creationId xmlns:a16="http://schemas.microsoft.com/office/drawing/2014/main" id="{FAF7A828-FF37-AD26-366B-06527B6057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>
            <a:extLst>
              <a:ext uri="{FF2B5EF4-FFF2-40B4-BE49-F238E27FC236}">
                <a16:creationId xmlns:a16="http://schemas.microsoft.com/office/drawing/2014/main" id="{ADA08A78-D8BD-5BF0-92EF-75D9C70E1E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86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D4C7A5F3-FBBD-AF06-0F95-713EC64AA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>
            <a:extLst>
              <a:ext uri="{FF2B5EF4-FFF2-40B4-BE49-F238E27FC236}">
                <a16:creationId xmlns:a16="http://schemas.microsoft.com/office/drawing/2014/main" id="{0A4085DB-05B9-2CBE-459B-32BB6B6D67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>
            <a:extLst>
              <a:ext uri="{FF2B5EF4-FFF2-40B4-BE49-F238E27FC236}">
                <a16:creationId xmlns:a16="http://schemas.microsoft.com/office/drawing/2014/main" id="{5C78C6A3-6949-74B2-C4DC-6A8095C0FD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86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27D40933-0437-57AA-4881-811AC1C12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>
            <a:extLst>
              <a:ext uri="{FF2B5EF4-FFF2-40B4-BE49-F238E27FC236}">
                <a16:creationId xmlns:a16="http://schemas.microsoft.com/office/drawing/2014/main" id="{D97BAC78-47FE-FD93-ECFB-21D62CC050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>
            <a:extLst>
              <a:ext uri="{FF2B5EF4-FFF2-40B4-BE49-F238E27FC236}">
                <a16:creationId xmlns:a16="http://schemas.microsoft.com/office/drawing/2014/main" id="{9385821B-9F1C-67FC-660B-40CDEB858C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9498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39A30B98-3A84-54CC-C111-1B0685AF9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>
            <a:extLst>
              <a:ext uri="{FF2B5EF4-FFF2-40B4-BE49-F238E27FC236}">
                <a16:creationId xmlns:a16="http://schemas.microsoft.com/office/drawing/2014/main" id="{49E3D6D5-7398-4420-7251-00F87D1A38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>
            <a:extLst>
              <a:ext uri="{FF2B5EF4-FFF2-40B4-BE49-F238E27FC236}">
                <a16:creationId xmlns:a16="http://schemas.microsoft.com/office/drawing/2014/main" id="{ED11FC6C-1C5A-AE19-EBCF-4887877E66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8791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751CC207-AEF2-BEE2-1CE3-025BF7B66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>
            <a:extLst>
              <a:ext uri="{FF2B5EF4-FFF2-40B4-BE49-F238E27FC236}">
                <a16:creationId xmlns:a16="http://schemas.microsoft.com/office/drawing/2014/main" id="{9203D4DF-1B32-6859-5F7C-5E61AE9524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>
            <a:extLst>
              <a:ext uri="{FF2B5EF4-FFF2-40B4-BE49-F238E27FC236}">
                <a16:creationId xmlns:a16="http://schemas.microsoft.com/office/drawing/2014/main" id="{575CDA47-E2B6-910B-925B-58A095A24E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4428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51758132-62F2-80E1-7B15-F5AD90B5A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>
            <a:extLst>
              <a:ext uri="{FF2B5EF4-FFF2-40B4-BE49-F238E27FC236}">
                <a16:creationId xmlns:a16="http://schemas.microsoft.com/office/drawing/2014/main" id="{36A59056-6A81-FD7C-66ED-5D2FDA116A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>
            <a:extLst>
              <a:ext uri="{FF2B5EF4-FFF2-40B4-BE49-F238E27FC236}">
                <a16:creationId xmlns:a16="http://schemas.microsoft.com/office/drawing/2014/main" id="{570CD3AB-EE9A-7781-4A05-6345EE3EAB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92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D9720A92-F74B-FA34-F3B2-F1EEF6F3A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>
            <a:extLst>
              <a:ext uri="{FF2B5EF4-FFF2-40B4-BE49-F238E27FC236}">
                <a16:creationId xmlns:a16="http://schemas.microsoft.com/office/drawing/2014/main" id="{34A766BE-FCD8-81CA-E689-0827463028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>
            <a:extLst>
              <a:ext uri="{FF2B5EF4-FFF2-40B4-BE49-F238E27FC236}">
                <a16:creationId xmlns:a16="http://schemas.microsoft.com/office/drawing/2014/main" id="{2381D3B5-7FB2-C64C-5E78-9B8A555E5A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9825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F6559B95-3814-8748-C011-9C9A75DB8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>
            <a:extLst>
              <a:ext uri="{FF2B5EF4-FFF2-40B4-BE49-F238E27FC236}">
                <a16:creationId xmlns:a16="http://schemas.microsoft.com/office/drawing/2014/main" id="{22D0681C-D364-86B1-0C0F-7DCA7C6BA0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:notes">
            <a:extLst>
              <a:ext uri="{FF2B5EF4-FFF2-40B4-BE49-F238E27FC236}">
                <a16:creationId xmlns:a16="http://schemas.microsoft.com/office/drawing/2014/main" id="{9D65E517-285C-2EA8-7E7A-F966E9D3CE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334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FB79D6C5-5628-E29B-8AF4-8521FD3F9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>
            <a:extLst>
              <a:ext uri="{FF2B5EF4-FFF2-40B4-BE49-F238E27FC236}">
                <a16:creationId xmlns:a16="http://schemas.microsoft.com/office/drawing/2014/main" id="{0F215C74-3E3C-F857-DB30-1894E12A32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>
            <a:extLst>
              <a:ext uri="{FF2B5EF4-FFF2-40B4-BE49-F238E27FC236}">
                <a16:creationId xmlns:a16="http://schemas.microsoft.com/office/drawing/2014/main" id="{6B3EC364-846A-CFFB-BEF8-9282A1335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5141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32BE03B1-F275-C382-53DD-6E10864C3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>
            <a:extLst>
              <a:ext uri="{FF2B5EF4-FFF2-40B4-BE49-F238E27FC236}">
                <a16:creationId xmlns:a16="http://schemas.microsoft.com/office/drawing/2014/main" id="{8A8766BC-3075-F6D3-AC61-7D59B37C4B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>
            <a:extLst>
              <a:ext uri="{FF2B5EF4-FFF2-40B4-BE49-F238E27FC236}">
                <a16:creationId xmlns:a16="http://schemas.microsoft.com/office/drawing/2014/main" id="{4DA4E0FB-79FE-2CE9-2CA1-94719C4072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490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D6DD9D3D-0FD2-022D-1150-472120E53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>
            <a:extLst>
              <a:ext uri="{FF2B5EF4-FFF2-40B4-BE49-F238E27FC236}">
                <a16:creationId xmlns:a16="http://schemas.microsoft.com/office/drawing/2014/main" id="{523D8DFF-4987-1250-07A7-61F86E3FF4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>
            <a:extLst>
              <a:ext uri="{FF2B5EF4-FFF2-40B4-BE49-F238E27FC236}">
                <a16:creationId xmlns:a16="http://schemas.microsoft.com/office/drawing/2014/main" id="{C3C9536A-F41E-DABB-3782-0775D0F63B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6411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C5F33D9F-B75B-3139-C83E-28DE9BC25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>
            <a:extLst>
              <a:ext uri="{FF2B5EF4-FFF2-40B4-BE49-F238E27FC236}">
                <a16:creationId xmlns:a16="http://schemas.microsoft.com/office/drawing/2014/main" id="{5619F206-7A46-CE23-2F50-B51E184A20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>
            <a:extLst>
              <a:ext uri="{FF2B5EF4-FFF2-40B4-BE49-F238E27FC236}">
                <a16:creationId xmlns:a16="http://schemas.microsoft.com/office/drawing/2014/main" id="{BC0844C3-AE79-69EE-9FEF-8B01A6BC56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7519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BBF5DBC8-AE25-B1CE-6F39-F3089D03D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>
            <a:extLst>
              <a:ext uri="{FF2B5EF4-FFF2-40B4-BE49-F238E27FC236}">
                <a16:creationId xmlns:a16="http://schemas.microsoft.com/office/drawing/2014/main" id="{0EB5B3C7-16B6-E533-3A6F-498AD0EC81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>
            <a:extLst>
              <a:ext uri="{FF2B5EF4-FFF2-40B4-BE49-F238E27FC236}">
                <a16:creationId xmlns:a16="http://schemas.microsoft.com/office/drawing/2014/main" id="{39EEC992-D2A4-5BED-306D-FE2D6C96A5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4372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79970A21-8EAA-1D2F-7E6E-2D4C5C1EA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>
            <a:extLst>
              <a:ext uri="{FF2B5EF4-FFF2-40B4-BE49-F238E27FC236}">
                <a16:creationId xmlns:a16="http://schemas.microsoft.com/office/drawing/2014/main" id="{CE6B4EFA-1716-E3C8-62BD-FDB6EEA7A0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>
            <a:extLst>
              <a:ext uri="{FF2B5EF4-FFF2-40B4-BE49-F238E27FC236}">
                <a16:creationId xmlns:a16="http://schemas.microsoft.com/office/drawing/2014/main" id="{CAED69A6-4AEB-48B9-DB69-EE0F6BA47D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96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A7E2DA5B-89B6-FF26-8EA0-13EFEDB46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>
            <a:extLst>
              <a:ext uri="{FF2B5EF4-FFF2-40B4-BE49-F238E27FC236}">
                <a16:creationId xmlns:a16="http://schemas.microsoft.com/office/drawing/2014/main" id="{ED67442B-465A-27DD-FA9A-71A7C0C1AA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>
            <a:extLst>
              <a:ext uri="{FF2B5EF4-FFF2-40B4-BE49-F238E27FC236}">
                <a16:creationId xmlns:a16="http://schemas.microsoft.com/office/drawing/2014/main" id="{AF54B288-429D-2CA4-0CEB-970ADCBF51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2488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5B619650-BBE4-9ACE-5B8F-0B4526D89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>
            <a:extLst>
              <a:ext uri="{FF2B5EF4-FFF2-40B4-BE49-F238E27FC236}">
                <a16:creationId xmlns:a16="http://schemas.microsoft.com/office/drawing/2014/main" id="{548FF9BD-3EA9-70AF-BBBB-8F0079413A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" name="Google Shape;63;p2:notes">
            <a:extLst>
              <a:ext uri="{FF2B5EF4-FFF2-40B4-BE49-F238E27FC236}">
                <a16:creationId xmlns:a16="http://schemas.microsoft.com/office/drawing/2014/main" id="{D85311AB-0BD9-9F9A-998B-13C353F643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058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8A48F4C9-EF70-AF39-3B9A-A93B522A8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>
            <a:extLst>
              <a:ext uri="{FF2B5EF4-FFF2-40B4-BE49-F238E27FC236}">
                <a16:creationId xmlns:a16="http://schemas.microsoft.com/office/drawing/2014/main" id="{3321F910-50B0-2B9E-B7F8-D28F73C81E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:notes">
            <a:extLst>
              <a:ext uri="{FF2B5EF4-FFF2-40B4-BE49-F238E27FC236}">
                <a16:creationId xmlns:a16="http://schemas.microsoft.com/office/drawing/2014/main" id="{A0BFF82E-C9F2-6CE9-B2CF-4E49F47765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1043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2ECB5D36-2E76-1B4A-7EA2-C6B7E0C1E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>
            <a:extLst>
              <a:ext uri="{FF2B5EF4-FFF2-40B4-BE49-F238E27FC236}">
                <a16:creationId xmlns:a16="http://schemas.microsoft.com/office/drawing/2014/main" id="{C8D7DD5F-904F-7BDB-A598-42B0CBD62F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:notes">
            <a:extLst>
              <a:ext uri="{FF2B5EF4-FFF2-40B4-BE49-F238E27FC236}">
                <a16:creationId xmlns:a16="http://schemas.microsoft.com/office/drawing/2014/main" id="{97D142F1-F41B-4F03-C257-DEA1DF3711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089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One" type="obj">
  <p:cSld name="OBJECT">
    <p:bg>
      <p:bgPr>
        <a:solidFill>
          <a:srgbClr val="F8EFE5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>
            <a:spLocks noGrp="1"/>
          </p:cNvSpPr>
          <p:nvPr>
            <p:ph type="pic" idx="2"/>
          </p:nvPr>
        </p:nvSpPr>
        <p:spPr>
          <a:xfrm>
            <a:off x="-4337" y="0"/>
            <a:ext cx="7604400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 type="secHead">
  <p:cSld name="SECTION_HEADER">
    <p:bg>
      <p:bgPr>
        <a:solidFill>
          <a:srgbClr val="F8EFE5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5"/>
          <p:cNvGrpSpPr/>
          <p:nvPr/>
        </p:nvGrpSpPr>
        <p:grpSpPr>
          <a:xfrm>
            <a:off x="705068" y="944180"/>
            <a:ext cx="16877925" cy="8398575"/>
            <a:chOff x="81" y="-86"/>
            <a:chExt cx="22503900" cy="11198100"/>
          </a:xfrm>
        </p:grpSpPr>
        <p:grpSp>
          <p:nvGrpSpPr>
            <p:cNvPr id="26" name="Google Shape;26;p5"/>
            <p:cNvGrpSpPr/>
            <p:nvPr/>
          </p:nvGrpSpPr>
          <p:grpSpPr>
            <a:xfrm>
              <a:off x="431590" y="220606"/>
              <a:ext cx="21640800" cy="10708706"/>
              <a:chOff x="0" y="-9525"/>
              <a:chExt cx="4274726" cy="2115300"/>
            </a:xfrm>
          </p:grpSpPr>
          <p:sp>
            <p:nvSpPr>
              <p:cNvPr id="27" name="Google Shape;27;p5"/>
              <p:cNvSpPr/>
              <p:nvPr/>
            </p:nvSpPr>
            <p:spPr>
              <a:xfrm>
                <a:off x="0" y="0"/>
                <a:ext cx="4274726" cy="210575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105751" extrusionOk="0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105751"/>
                    </a:lnTo>
                    <a:lnTo>
                      <a:pt x="0" y="2105751"/>
                    </a:lnTo>
                    <a:close/>
                  </a:path>
                </a:pathLst>
              </a:custGeom>
              <a:solidFill>
                <a:srgbClr val="253278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Google Shape;28;p5"/>
              <p:cNvSpPr txBox="1"/>
              <p:nvPr/>
            </p:nvSpPr>
            <p:spPr>
              <a:xfrm>
                <a:off x="0" y="-9525"/>
                <a:ext cx="4274700" cy="211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9" name="Google Shape;29;p5"/>
            <p:cNvCxnSpPr/>
            <p:nvPr/>
          </p:nvCxnSpPr>
          <p:spPr>
            <a:xfrm rot="10800000">
              <a:off x="5708265" y="-86"/>
              <a:ext cx="0" cy="11198100"/>
            </a:xfrm>
            <a:prstGeom prst="straightConnector1">
              <a:avLst/>
            </a:prstGeom>
            <a:noFill/>
            <a:ln w="381000" cap="flat" cmpd="sng">
              <a:solidFill>
                <a:srgbClr val="F8EFE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" name="Google Shape;30;p5"/>
            <p:cNvCxnSpPr/>
            <p:nvPr/>
          </p:nvCxnSpPr>
          <p:spPr>
            <a:xfrm rot="10800000">
              <a:off x="81" y="2406194"/>
              <a:ext cx="22503900" cy="0"/>
            </a:xfrm>
            <a:prstGeom prst="straightConnector1">
              <a:avLst/>
            </a:prstGeom>
            <a:noFill/>
            <a:ln w="381000" cap="flat" cmpd="sng">
              <a:solidFill>
                <a:srgbClr val="F8EFE5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31" name="Google Shape;31;p5"/>
          <p:cNvCxnSpPr/>
          <p:nvPr/>
        </p:nvCxnSpPr>
        <p:spPr>
          <a:xfrm>
            <a:off x="1233028" y="4382053"/>
            <a:ext cx="3402300" cy="0"/>
          </a:xfrm>
          <a:prstGeom prst="straightConnector1">
            <a:avLst/>
          </a:prstGeom>
          <a:noFill/>
          <a:ln w="38100" cap="flat" cmpd="sng">
            <a:solidFill>
              <a:srgbClr val="F8EFE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" name="Google Shape;32;p5"/>
          <p:cNvCxnSpPr/>
          <p:nvPr/>
        </p:nvCxnSpPr>
        <p:spPr>
          <a:xfrm>
            <a:off x="1233028" y="5975789"/>
            <a:ext cx="3402300" cy="0"/>
          </a:xfrm>
          <a:prstGeom prst="straightConnector1">
            <a:avLst/>
          </a:prstGeom>
          <a:noFill/>
          <a:ln w="38100" cap="flat" cmpd="sng">
            <a:solidFill>
              <a:srgbClr val="F8EFE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" name="Google Shape;33;p5"/>
          <p:cNvCxnSpPr/>
          <p:nvPr/>
        </p:nvCxnSpPr>
        <p:spPr>
          <a:xfrm>
            <a:off x="1233028" y="7569525"/>
            <a:ext cx="3402300" cy="0"/>
          </a:xfrm>
          <a:prstGeom prst="straightConnector1">
            <a:avLst/>
          </a:prstGeom>
          <a:noFill/>
          <a:ln w="38100" cap="flat" cmpd="sng">
            <a:solidFill>
              <a:srgbClr val="F8EFE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5"/>
          <p:cNvCxnSpPr/>
          <p:nvPr/>
        </p:nvCxnSpPr>
        <p:spPr>
          <a:xfrm rot="10800000">
            <a:off x="9701646" y="944255"/>
            <a:ext cx="0" cy="8398500"/>
          </a:xfrm>
          <a:prstGeom prst="straightConnector1">
            <a:avLst/>
          </a:prstGeom>
          <a:noFill/>
          <a:ln w="285750" cap="flat" cmpd="sng">
            <a:solidFill>
              <a:srgbClr val="F8EFE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" name="Google Shape;35;p5"/>
          <p:cNvCxnSpPr/>
          <p:nvPr/>
        </p:nvCxnSpPr>
        <p:spPr>
          <a:xfrm rot="10800000">
            <a:off x="14412566" y="944255"/>
            <a:ext cx="0" cy="8398500"/>
          </a:xfrm>
          <a:prstGeom prst="straightConnector1">
            <a:avLst/>
          </a:prstGeom>
          <a:noFill/>
          <a:ln w="285750" cap="flat" cmpd="sng">
            <a:solidFill>
              <a:srgbClr val="F8EFE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36;p5"/>
          <p:cNvCxnSpPr/>
          <p:nvPr/>
        </p:nvCxnSpPr>
        <p:spPr>
          <a:xfrm>
            <a:off x="5389491" y="4382053"/>
            <a:ext cx="3909000" cy="0"/>
          </a:xfrm>
          <a:prstGeom prst="straightConnector1">
            <a:avLst/>
          </a:prstGeom>
          <a:noFill/>
          <a:ln w="38100" cap="flat" cmpd="sng">
            <a:solidFill>
              <a:srgbClr val="F8EFE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5"/>
          <p:cNvCxnSpPr/>
          <p:nvPr/>
        </p:nvCxnSpPr>
        <p:spPr>
          <a:xfrm>
            <a:off x="5389491" y="5975789"/>
            <a:ext cx="3909000" cy="0"/>
          </a:xfrm>
          <a:prstGeom prst="straightConnector1">
            <a:avLst/>
          </a:prstGeom>
          <a:noFill/>
          <a:ln w="38100" cap="flat" cmpd="sng">
            <a:solidFill>
              <a:srgbClr val="F8EFE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5"/>
          <p:cNvCxnSpPr/>
          <p:nvPr/>
        </p:nvCxnSpPr>
        <p:spPr>
          <a:xfrm>
            <a:off x="5389491" y="7569525"/>
            <a:ext cx="3909000" cy="0"/>
          </a:xfrm>
          <a:prstGeom prst="straightConnector1">
            <a:avLst/>
          </a:prstGeom>
          <a:noFill/>
          <a:ln w="38100" cap="flat" cmpd="sng">
            <a:solidFill>
              <a:srgbClr val="F8EFE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5"/>
          <p:cNvCxnSpPr/>
          <p:nvPr/>
        </p:nvCxnSpPr>
        <p:spPr>
          <a:xfrm>
            <a:off x="10101696" y="4382053"/>
            <a:ext cx="3909000" cy="0"/>
          </a:xfrm>
          <a:prstGeom prst="straightConnector1">
            <a:avLst/>
          </a:prstGeom>
          <a:noFill/>
          <a:ln w="38100" cap="flat" cmpd="sng">
            <a:solidFill>
              <a:srgbClr val="F8EFE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5"/>
          <p:cNvCxnSpPr/>
          <p:nvPr/>
        </p:nvCxnSpPr>
        <p:spPr>
          <a:xfrm>
            <a:off x="10101696" y="5975789"/>
            <a:ext cx="3909000" cy="0"/>
          </a:xfrm>
          <a:prstGeom prst="straightConnector1">
            <a:avLst/>
          </a:prstGeom>
          <a:noFill/>
          <a:ln w="38100" cap="flat" cmpd="sng">
            <a:solidFill>
              <a:srgbClr val="F8EFE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5"/>
          <p:cNvCxnSpPr/>
          <p:nvPr/>
        </p:nvCxnSpPr>
        <p:spPr>
          <a:xfrm>
            <a:off x="10101696" y="7569525"/>
            <a:ext cx="3909000" cy="0"/>
          </a:xfrm>
          <a:prstGeom prst="straightConnector1">
            <a:avLst/>
          </a:prstGeom>
          <a:noFill/>
          <a:ln w="38100" cap="flat" cmpd="sng">
            <a:solidFill>
              <a:srgbClr val="F8EFE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" name="Google Shape;42;p5"/>
          <p:cNvCxnSpPr/>
          <p:nvPr/>
        </p:nvCxnSpPr>
        <p:spPr>
          <a:xfrm>
            <a:off x="14853166" y="4382053"/>
            <a:ext cx="2115000" cy="0"/>
          </a:xfrm>
          <a:prstGeom prst="straightConnector1">
            <a:avLst/>
          </a:prstGeom>
          <a:noFill/>
          <a:ln w="38100" cap="flat" cmpd="sng">
            <a:solidFill>
              <a:srgbClr val="F8EFE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" name="Google Shape;43;p5"/>
          <p:cNvCxnSpPr/>
          <p:nvPr/>
        </p:nvCxnSpPr>
        <p:spPr>
          <a:xfrm>
            <a:off x="14853166" y="5975789"/>
            <a:ext cx="2115000" cy="0"/>
          </a:xfrm>
          <a:prstGeom prst="straightConnector1">
            <a:avLst/>
          </a:prstGeom>
          <a:noFill/>
          <a:ln w="38100" cap="flat" cmpd="sng">
            <a:solidFill>
              <a:srgbClr val="F8EFE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" name="Google Shape;44;p5"/>
          <p:cNvCxnSpPr/>
          <p:nvPr/>
        </p:nvCxnSpPr>
        <p:spPr>
          <a:xfrm>
            <a:off x="14853166" y="7569525"/>
            <a:ext cx="2115000" cy="0"/>
          </a:xfrm>
          <a:prstGeom prst="straightConnector1">
            <a:avLst/>
          </a:prstGeom>
          <a:noFill/>
          <a:ln w="38100" cap="flat" cmpd="sng">
            <a:solidFill>
              <a:srgbClr val="F8EFE5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allery" type="twoObj">
  <p:cSld name="TWO_OBJECTS">
    <p:bg>
      <p:bgPr>
        <a:solidFill>
          <a:srgbClr val="253278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>
            <a:spLocks noGrp="1"/>
          </p:cNvSpPr>
          <p:nvPr>
            <p:ph type="pic" idx="2"/>
          </p:nvPr>
        </p:nvSpPr>
        <p:spPr>
          <a:xfrm>
            <a:off x="1051450" y="1219775"/>
            <a:ext cx="5058600" cy="3942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Google Shape;47;p6"/>
          <p:cNvSpPr>
            <a:spLocks noGrp="1"/>
          </p:cNvSpPr>
          <p:nvPr>
            <p:ph type="pic" idx="3"/>
          </p:nvPr>
        </p:nvSpPr>
        <p:spPr>
          <a:xfrm>
            <a:off x="6637450" y="1219775"/>
            <a:ext cx="5058600" cy="3942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Google Shape;48;p6"/>
          <p:cNvSpPr>
            <a:spLocks noGrp="1"/>
          </p:cNvSpPr>
          <p:nvPr>
            <p:ph type="pic" idx="4"/>
          </p:nvPr>
        </p:nvSpPr>
        <p:spPr>
          <a:xfrm>
            <a:off x="12176563" y="1219775"/>
            <a:ext cx="5058600" cy="3942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Google Shape;49;p6"/>
          <p:cNvSpPr>
            <a:spLocks noGrp="1"/>
          </p:cNvSpPr>
          <p:nvPr>
            <p:ph type="pic" idx="5"/>
          </p:nvPr>
        </p:nvSpPr>
        <p:spPr>
          <a:xfrm>
            <a:off x="1050825" y="5529725"/>
            <a:ext cx="5058600" cy="3942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Google Shape;50;p6"/>
          <p:cNvSpPr>
            <a:spLocks noGrp="1"/>
          </p:cNvSpPr>
          <p:nvPr>
            <p:ph type="pic" idx="6"/>
          </p:nvPr>
        </p:nvSpPr>
        <p:spPr>
          <a:xfrm>
            <a:off x="6636825" y="5529725"/>
            <a:ext cx="5058600" cy="3942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Google Shape;51;p6"/>
          <p:cNvSpPr>
            <a:spLocks noGrp="1"/>
          </p:cNvSpPr>
          <p:nvPr>
            <p:ph type="pic" idx="7"/>
          </p:nvPr>
        </p:nvSpPr>
        <p:spPr>
          <a:xfrm>
            <a:off x="12175938" y="5529725"/>
            <a:ext cx="5058600" cy="3942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253278"/>
              </a:buClr>
              <a:buSzPts val="4400"/>
              <a:buFont typeface="Inter"/>
              <a:buNone/>
              <a:defRPr sz="4400" i="0" u="none" strike="noStrike" cap="none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53278"/>
              </a:buClr>
              <a:buSzPts val="1400"/>
              <a:buFont typeface="Inter"/>
              <a:buNone/>
              <a:defRPr sz="1800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53278"/>
              </a:buClr>
              <a:buSzPts val="1400"/>
              <a:buFont typeface="Inter"/>
              <a:buNone/>
              <a:defRPr sz="1800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53278"/>
              </a:buClr>
              <a:buSzPts val="1400"/>
              <a:buFont typeface="Inter"/>
              <a:buNone/>
              <a:defRPr sz="1800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53278"/>
              </a:buClr>
              <a:buSzPts val="1400"/>
              <a:buFont typeface="Inter"/>
              <a:buNone/>
              <a:defRPr sz="1800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53278"/>
              </a:buClr>
              <a:buSzPts val="1400"/>
              <a:buFont typeface="Inter"/>
              <a:buNone/>
              <a:defRPr sz="1800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53278"/>
              </a:buClr>
              <a:buSzPts val="1400"/>
              <a:buFont typeface="Inter"/>
              <a:buNone/>
              <a:defRPr sz="1800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53278"/>
              </a:buClr>
              <a:buSzPts val="1400"/>
              <a:buFont typeface="Inter"/>
              <a:buNone/>
              <a:defRPr sz="1800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53278"/>
              </a:buClr>
              <a:buSzPts val="1400"/>
              <a:buFont typeface="Inter"/>
              <a:buNone/>
              <a:defRPr sz="1800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253278"/>
              </a:buClr>
              <a:buSzPts val="3200"/>
              <a:buFont typeface="Inter"/>
              <a:buChar char="•"/>
              <a:defRPr sz="3200" i="0" u="none" strike="noStrike" cap="none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253278"/>
              </a:buClr>
              <a:buSzPts val="2800"/>
              <a:buFont typeface="Inter"/>
              <a:buChar char="–"/>
              <a:defRPr sz="2800" i="0" u="none" strike="noStrike" cap="none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253278"/>
              </a:buClr>
              <a:buSzPts val="2400"/>
              <a:buFont typeface="Inter"/>
              <a:buChar char="•"/>
              <a:defRPr sz="2400" i="0" u="none" strike="noStrike" cap="none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253278"/>
              </a:buClr>
              <a:buSzPts val="2000"/>
              <a:buFont typeface="Inter"/>
              <a:buChar char="–"/>
              <a:defRPr sz="2000" i="0" u="none" strike="noStrike" cap="none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253278"/>
              </a:buClr>
              <a:buSzPts val="2000"/>
              <a:buFont typeface="Inter"/>
              <a:buChar char="»"/>
              <a:defRPr sz="2000" i="0" u="none" strike="noStrike" cap="none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253278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253278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253278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253278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distributedalgorithm.wordpress.com/2015/06/20/architecture-of-zab-zookeeper-atomic-broadcast-protocol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github.com/etcd-io/raf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zookeeper.apache.org/" TargetMode="External"/><Relationship Id="rId5" Type="http://schemas.openxmlformats.org/officeDocument/2006/relationships/hyperlink" Target="https://classpages.cselabs.umn.edu/Fall-2020/csci8211/Papers/Distributed%20Systems%20Zab-%20High-performance%20broadcast%20for%20primary-backup%20systems.pdf" TargetMode="External"/><Relationship Id="rId4" Type="http://schemas.openxmlformats.org/officeDocument/2006/relationships/hyperlink" Target="https://raft.github.io/raft.pdf" TargetMode="External"/><Relationship Id="rId9" Type="http://schemas.openxmlformats.org/officeDocument/2006/relationships/hyperlink" Target="https://cwiki.apache.org/confluence/display/ZOOKEEPER/Zab1.0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FE5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0300" y="3065150"/>
            <a:ext cx="4238074" cy="411117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6385500" y="3852339"/>
            <a:ext cx="10222200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>
                <a:solidFill>
                  <a:srgbClr val="25327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Reaching a consensus: </a:t>
            </a:r>
            <a:r>
              <a:rPr lang="en-US" sz="9000" dirty="0">
                <a:solidFill>
                  <a:srgbClr val="25327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Comparing RAFT and ZAB</a:t>
            </a:r>
            <a:endParaRPr sz="9000" dirty="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8" name="Google Shape;58;p7"/>
          <p:cNvSpPr txBox="1"/>
          <p:nvPr/>
        </p:nvSpPr>
        <p:spPr>
          <a:xfrm>
            <a:off x="6480750" y="3461814"/>
            <a:ext cx="965389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253278"/>
                </a:solidFill>
                <a:latin typeface="Inter"/>
                <a:ea typeface="Inter"/>
                <a:sym typeface="Inter"/>
              </a:rPr>
              <a:t>JIA KHOT							           LALIT MAURYA</a:t>
            </a:r>
          </a:p>
        </p:txBody>
      </p:sp>
      <p:sp>
        <p:nvSpPr>
          <p:cNvPr id="59" name="Google Shape;59;p7"/>
          <p:cNvSpPr txBox="1"/>
          <p:nvPr/>
        </p:nvSpPr>
        <p:spPr>
          <a:xfrm>
            <a:off x="16682530" y="403013"/>
            <a:ext cx="753726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rPr>
              <a:t>CSD</a:t>
            </a:r>
            <a:r>
              <a:rPr lang="en-US" sz="1200" b="1" i="0" u="none" strike="noStrike" cap="none" dirty="0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rPr>
              <a:t>438</a:t>
            </a:r>
            <a:endParaRPr dirty="0"/>
          </a:p>
        </p:txBody>
      </p:sp>
      <p:sp>
        <p:nvSpPr>
          <p:cNvPr id="60" name="Google Shape;60;p7"/>
          <p:cNvSpPr txBox="1"/>
          <p:nvPr/>
        </p:nvSpPr>
        <p:spPr>
          <a:xfrm>
            <a:off x="688528" y="403853"/>
            <a:ext cx="522985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253278"/>
                </a:solidFill>
                <a:latin typeface="Inter"/>
                <a:ea typeface="Inter"/>
                <a:sym typeface="Inter"/>
              </a:rPr>
              <a:t>MID TERM PROJECT REVIEW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FE5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09652" y="1207432"/>
            <a:ext cx="2549651" cy="24733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" name="Google Shape;66;p8"/>
          <p:cNvGrpSpPr/>
          <p:nvPr/>
        </p:nvGrpSpPr>
        <p:grpSpPr>
          <a:xfrm>
            <a:off x="1028701" y="4154808"/>
            <a:ext cx="10209900" cy="4785383"/>
            <a:chOff x="0" y="-9525"/>
            <a:chExt cx="4274726" cy="1260348"/>
          </a:xfrm>
        </p:grpSpPr>
        <p:sp>
          <p:nvSpPr>
            <p:cNvPr id="67" name="Google Shape;67;p8"/>
            <p:cNvSpPr/>
            <p:nvPr/>
          </p:nvSpPr>
          <p:spPr>
            <a:xfrm>
              <a:off x="0" y="0"/>
              <a:ext cx="4274726" cy="1250823"/>
            </a:xfrm>
            <a:custGeom>
              <a:avLst/>
              <a:gdLst/>
              <a:ahLst/>
              <a:cxnLst/>
              <a:rect l="l" t="t" r="r" b="b"/>
              <a:pathLst>
                <a:path w="4274726" h="1250823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0823"/>
                  </a:lnTo>
                  <a:lnTo>
                    <a:pt x="0" y="1250823"/>
                  </a:lnTo>
                  <a:close/>
                </a:path>
              </a:pathLst>
            </a:custGeom>
            <a:solidFill>
              <a:srgbClr val="25327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Google Shape;68;p8"/>
            <p:cNvSpPr txBox="1"/>
            <p:nvPr/>
          </p:nvSpPr>
          <p:spPr>
            <a:xfrm>
              <a:off x="0" y="-9525"/>
              <a:ext cx="4274726" cy="12603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" name="Google Shape;69;p8"/>
          <p:cNvSpPr txBox="1"/>
          <p:nvPr/>
        </p:nvSpPr>
        <p:spPr>
          <a:xfrm>
            <a:off x="1028699" y="1603985"/>
            <a:ext cx="12893773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0" dirty="0">
                <a:solidFill>
                  <a:srgbClr val="25327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REFERENCES</a:t>
            </a:r>
            <a:endParaRPr dirty="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0" name="Google Shape;70;p8"/>
          <p:cNvSpPr txBox="1"/>
          <p:nvPr/>
        </p:nvSpPr>
        <p:spPr>
          <a:xfrm>
            <a:off x="1605779" y="5872448"/>
            <a:ext cx="3954359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sng" strike="noStrike" cap="none" dirty="0">
                <a:solidFill>
                  <a:srgbClr val="F8EFE5"/>
                </a:solidFill>
                <a:latin typeface="Inter SemiBold"/>
                <a:ea typeface="Inter SemiBold"/>
                <a:cs typeface="Inter SemiBold"/>
                <a:sym typeface="Inter SemiBol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Search of an Understandable Consensus Algorithm</a:t>
            </a:r>
            <a:endParaRPr lang="en-US" sz="1100" u="sng" dirty="0">
              <a:solidFill>
                <a:srgbClr val="F8EFE5"/>
              </a:solidFill>
            </a:endParaRPr>
          </a:p>
        </p:txBody>
      </p:sp>
      <p:sp>
        <p:nvSpPr>
          <p:cNvPr id="72" name="Google Shape;72;p8"/>
          <p:cNvSpPr txBox="1"/>
          <p:nvPr/>
        </p:nvSpPr>
        <p:spPr>
          <a:xfrm>
            <a:off x="6483891" y="5871141"/>
            <a:ext cx="418920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F8EFE5"/>
                </a:solidFill>
                <a:latin typeface="Inter SemiBold"/>
                <a:ea typeface="Inter SemiBold"/>
                <a:cs typeface="Inter SemiBold"/>
                <a:sym typeface="Inter SemiBol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Zab: High-performance broadcast for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F8EFE5"/>
                </a:solidFill>
                <a:latin typeface="Inter SemiBold"/>
                <a:ea typeface="Inter SemiBold"/>
                <a:cs typeface="Inter SemiBold"/>
                <a:sym typeface="Inter SemiBol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primary-backup systems</a:t>
            </a:r>
            <a:endParaRPr sz="1100" dirty="0">
              <a:solidFill>
                <a:srgbClr val="F8EFE5"/>
              </a:solidFill>
            </a:endParaRPr>
          </a:p>
        </p:txBody>
      </p:sp>
      <p:sp>
        <p:nvSpPr>
          <p:cNvPr id="75" name="Google Shape;75;p8"/>
          <p:cNvSpPr txBox="1"/>
          <p:nvPr/>
        </p:nvSpPr>
        <p:spPr>
          <a:xfrm>
            <a:off x="12493021" y="4446923"/>
            <a:ext cx="4189200" cy="420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/>
                <a:ea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https://zookeeper.apache.org</a:t>
            </a:r>
            <a:endParaRPr lang="en-US" sz="2100" dirty="0">
              <a:solidFill>
                <a:srgbClr val="253278"/>
              </a:solidFill>
              <a:latin typeface="Inter"/>
              <a:ea typeface="Inter"/>
              <a:sym typeface="Inter"/>
            </a:endParaRPr>
          </a:p>
          <a:p>
            <a:pPr lvl="0"/>
            <a:endParaRPr lang="en-US" sz="2100" dirty="0">
              <a:solidFill>
                <a:srgbClr val="253278"/>
              </a:solidFill>
              <a:latin typeface="Inter"/>
              <a:ea typeface="Inter"/>
              <a:sym typeface="Inter"/>
            </a:endParaRPr>
          </a:p>
          <a:p>
            <a:pPr marL="342900" lvl="0" indent="-342900"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/>
                <a:ea typeface="Inter"/>
                <a:sym typeface="Inter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https://github.com/etcd-io/raft</a:t>
            </a:r>
            <a:endParaRPr lang="en-US" sz="2100" dirty="0">
              <a:solidFill>
                <a:srgbClr val="253278"/>
              </a:solidFill>
              <a:latin typeface="Inter"/>
              <a:ea typeface="Inter"/>
              <a:sym typeface="Inter"/>
            </a:endParaRPr>
          </a:p>
          <a:p>
            <a:pPr marL="342900" lvl="0" indent="-342900">
              <a:buFontTx/>
              <a:buChar char="-"/>
            </a:pPr>
            <a:endParaRPr lang="en-US" sz="2100" dirty="0">
              <a:solidFill>
                <a:srgbClr val="253278"/>
              </a:solidFill>
              <a:latin typeface="Inter"/>
              <a:ea typeface="Inter"/>
              <a:sym typeface="Inter"/>
              <a:hlinkClick r:id="rId8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342900" lvl="0" indent="-342900"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/>
                <a:ea typeface="Inter"/>
                <a:sym typeface="Inter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https://distributedalgorithm.wordpress.com/2015/06/20/architecture-of-zab-zookeeper-atomic-broadcast-protocol</a:t>
            </a:r>
            <a:endParaRPr lang="en-US" sz="2100" dirty="0">
              <a:solidFill>
                <a:srgbClr val="253278"/>
              </a:solidFill>
              <a:latin typeface="Inter"/>
              <a:ea typeface="Inter"/>
              <a:sym typeface="Inter"/>
            </a:endParaRPr>
          </a:p>
          <a:p>
            <a:pPr marL="342900" lvl="0" indent="-342900">
              <a:buFontTx/>
              <a:buChar char="-"/>
            </a:pPr>
            <a:endParaRPr lang="en-US" sz="2100" dirty="0">
              <a:solidFill>
                <a:srgbClr val="0000FF"/>
              </a:solidFill>
              <a:latin typeface="Inter"/>
              <a:ea typeface="Inter"/>
              <a:sym typeface="Inter"/>
              <a:hlinkClick r:id="rId9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342900" lvl="0" indent="-342900"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/>
                <a:ea typeface="Inter"/>
                <a:sym typeface="Inter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https://cwiki.apache.org/confluence/display/ZOOKEEPER/Zab1.0</a:t>
            </a:r>
            <a:endParaRPr lang="en-US" sz="2100" dirty="0">
              <a:solidFill>
                <a:srgbClr val="253278"/>
              </a:solidFill>
              <a:latin typeface="Inter"/>
              <a:ea typeface="Inter"/>
              <a:sym typeface="Inter"/>
            </a:endParaRPr>
          </a:p>
        </p:txBody>
      </p:sp>
      <p:cxnSp>
        <p:nvCxnSpPr>
          <p:cNvPr id="76" name="Google Shape;76;p8"/>
          <p:cNvCxnSpPr/>
          <p:nvPr/>
        </p:nvCxnSpPr>
        <p:spPr>
          <a:xfrm rot="10800000">
            <a:off x="5918382" y="4649896"/>
            <a:ext cx="0" cy="3737766"/>
          </a:xfrm>
          <a:prstGeom prst="straightConnector1">
            <a:avLst/>
          </a:prstGeom>
          <a:noFill/>
          <a:ln w="38100" cap="flat" cmpd="sng">
            <a:solidFill>
              <a:srgbClr val="F8EF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59;p7">
            <a:extLst>
              <a:ext uri="{FF2B5EF4-FFF2-40B4-BE49-F238E27FC236}">
                <a16:creationId xmlns:a16="http://schemas.microsoft.com/office/drawing/2014/main" id="{443A4F9D-91F1-969D-E7DF-0DE050EA968D}"/>
              </a:ext>
            </a:extLst>
          </p:cNvPr>
          <p:cNvSpPr txBox="1"/>
          <p:nvPr/>
        </p:nvSpPr>
        <p:spPr>
          <a:xfrm>
            <a:off x="16682530" y="403013"/>
            <a:ext cx="753726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rPr>
              <a:t>CSD</a:t>
            </a:r>
            <a:r>
              <a:rPr lang="en-US" sz="1200" b="1" i="0" u="none" strike="noStrike" cap="none" dirty="0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rPr>
              <a:t>438</a:t>
            </a:r>
            <a:endParaRPr dirty="0"/>
          </a:p>
        </p:txBody>
      </p:sp>
      <p:sp>
        <p:nvSpPr>
          <p:cNvPr id="5" name="Google Shape;60;p7">
            <a:extLst>
              <a:ext uri="{FF2B5EF4-FFF2-40B4-BE49-F238E27FC236}">
                <a16:creationId xmlns:a16="http://schemas.microsoft.com/office/drawing/2014/main" id="{CB30C1A5-054E-CB06-E798-1C17C9EB8397}"/>
              </a:ext>
            </a:extLst>
          </p:cNvPr>
          <p:cNvSpPr txBox="1"/>
          <p:nvPr/>
        </p:nvSpPr>
        <p:spPr>
          <a:xfrm>
            <a:off x="688528" y="403853"/>
            <a:ext cx="522985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253278"/>
                </a:solidFill>
                <a:latin typeface="Inter"/>
                <a:ea typeface="Inter"/>
                <a:sym typeface="Inter"/>
              </a:rPr>
              <a:t>MID TERM PROJECT REVIEW</a:t>
            </a:r>
            <a:endParaRPr dirty="0"/>
          </a:p>
        </p:txBody>
      </p:sp>
      <p:sp>
        <p:nvSpPr>
          <p:cNvPr id="2" name="Google Shape;70;p8">
            <a:extLst>
              <a:ext uri="{FF2B5EF4-FFF2-40B4-BE49-F238E27FC236}">
                <a16:creationId xmlns:a16="http://schemas.microsoft.com/office/drawing/2014/main" id="{03AD9EE4-C672-3C80-F2AB-33E3C5C9B152}"/>
              </a:ext>
            </a:extLst>
          </p:cNvPr>
          <p:cNvSpPr txBox="1"/>
          <p:nvPr/>
        </p:nvSpPr>
        <p:spPr>
          <a:xfrm>
            <a:off x="1605779" y="4903656"/>
            <a:ext cx="37470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8EFE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Raft</a:t>
            </a:r>
            <a:endParaRPr lang="en-US" dirty="0">
              <a:solidFill>
                <a:srgbClr val="F8EFE5"/>
              </a:solidFill>
            </a:endParaRPr>
          </a:p>
        </p:txBody>
      </p:sp>
      <p:sp>
        <p:nvSpPr>
          <p:cNvPr id="3" name="Google Shape;70;p8">
            <a:extLst>
              <a:ext uri="{FF2B5EF4-FFF2-40B4-BE49-F238E27FC236}">
                <a16:creationId xmlns:a16="http://schemas.microsoft.com/office/drawing/2014/main" id="{CF2FA6F4-8A5B-084B-5DD2-26997337B568}"/>
              </a:ext>
            </a:extLst>
          </p:cNvPr>
          <p:cNvSpPr txBox="1"/>
          <p:nvPr/>
        </p:nvSpPr>
        <p:spPr>
          <a:xfrm>
            <a:off x="6483891" y="4907810"/>
            <a:ext cx="37470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8EFE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ZAB</a:t>
            </a:r>
            <a:endParaRPr lang="en-US" dirty="0">
              <a:solidFill>
                <a:srgbClr val="F8EFE5"/>
              </a:solidFill>
            </a:endParaRP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27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/>
          <p:nvPr/>
        </p:nvSpPr>
        <p:spPr>
          <a:xfrm>
            <a:off x="688528" y="1277182"/>
            <a:ext cx="1363215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i="0" u="none" strike="noStrike" cap="none" dirty="0">
                <a:solidFill>
                  <a:srgbClr val="F8EFE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CONSENSUS ALGORITHMS</a:t>
            </a:r>
            <a:endParaRPr lang="en-US" sz="8000" dirty="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" name="Google Shape;85;p9"/>
          <p:cNvSpPr txBox="1"/>
          <p:nvPr/>
        </p:nvSpPr>
        <p:spPr>
          <a:xfrm>
            <a:off x="16682530" y="403013"/>
            <a:ext cx="753726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CSD438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6" name="Google Shape;86;p9"/>
          <p:cNvSpPr txBox="1"/>
          <p:nvPr/>
        </p:nvSpPr>
        <p:spPr>
          <a:xfrm>
            <a:off x="688528" y="403853"/>
            <a:ext cx="522985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MID TERM PROJECT REVIEW</a:t>
            </a:r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2" name="Google Shape;66;p8">
            <a:extLst>
              <a:ext uri="{FF2B5EF4-FFF2-40B4-BE49-F238E27FC236}">
                <a16:creationId xmlns:a16="http://schemas.microsoft.com/office/drawing/2014/main" id="{916485AD-B80C-8492-08AF-0E1C7F010AFD}"/>
              </a:ext>
            </a:extLst>
          </p:cNvPr>
          <p:cNvGrpSpPr/>
          <p:nvPr/>
        </p:nvGrpSpPr>
        <p:grpSpPr>
          <a:xfrm>
            <a:off x="881216" y="3036908"/>
            <a:ext cx="16555040" cy="6336577"/>
            <a:chOff x="0" y="-9525"/>
            <a:chExt cx="4274726" cy="1260348"/>
          </a:xfrm>
          <a:solidFill>
            <a:srgbClr val="F8EFE5"/>
          </a:solidFill>
        </p:grpSpPr>
        <p:sp>
          <p:nvSpPr>
            <p:cNvPr id="3" name="Google Shape;67;p8">
              <a:extLst>
                <a:ext uri="{FF2B5EF4-FFF2-40B4-BE49-F238E27FC236}">
                  <a16:creationId xmlns:a16="http://schemas.microsoft.com/office/drawing/2014/main" id="{D77CD64B-45DE-3602-A090-96DD4374F6DB}"/>
                </a:ext>
              </a:extLst>
            </p:cNvPr>
            <p:cNvSpPr/>
            <p:nvPr/>
          </p:nvSpPr>
          <p:spPr>
            <a:xfrm>
              <a:off x="0" y="0"/>
              <a:ext cx="4274726" cy="1250823"/>
            </a:xfrm>
            <a:custGeom>
              <a:avLst/>
              <a:gdLst/>
              <a:ahLst/>
              <a:cxnLst/>
              <a:rect l="l" t="t" r="r" b="b"/>
              <a:pathLst>
                <a:path w="4274726" h="1250823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0823"/>
                  </a:lnTo>
                  <a:lnTo>
                    <a:pt x="0" y="12508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Google Shape;68;p8">
              <a:extLst>
                <a:ext uri="{FF2B5EF4-FFF2-40B4-BE49-F238E27FC236}">
                  <a16:creationId xmlns:a16="http://schemas.microsoft.com/office/drawing/2014/main" id="{0F95074C-BED8-B4FC-A850-2BA9FE147508}"/>
                </a:ext>
              </a:extLst>
            </p:cNvPr>
            <p:cNvSpPr txBox="1"/>
            <p:nvPr/>
          </p:nvSpPr>
          <p:spPr>
            <a:xfrm>
              <a:off x="0" y="-9525"/>
              <a:ext cx="4274726" cy="126034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8EFE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A5BB767-62D0-A396-5115-EECC24CB8750}"/>
              </a:ext>
            </a:extLst>
          </p:cNvPr>
          <p:cNvSpPr txBox="1"/>
          <p:nvPr/>
        </p:nvSpPr>
        <p:spPr>
          <a:xfrm>
            <a:off x="1370535" y="3489542"/>
            <a:ext cx="15576401" cy="5165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Consensus = agreement among distributed nodes on a single value or sequence of actions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Ensures the system behaves like one reliable machine despite crashes or message delays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Critical for replicated databases, config stores, and distributed coordination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Guarantees two key properties:</a:t>
            </a:r>
          </a:p>
          <a:p>
            <a:pPr>
              <a:lnSpc>
                <a:spcPct val="200000"/>
              </a:lnSpc>
            </a:pPr>
            <a:r>
              <a:rPr lang="en-US" sz="21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	Safety: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 no two nodes ever decide different values</a:t>
            </a:r>
          </a:p>
          <a:p>
            <a:pPr>
              <a:lnSpc>
                <a:spcPct val="200000"/>
              </a:lnSpc>
            </a:pPr>
            <a:r>
              <a:rPr lang="en-US" sz="21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	Liveness: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 the system eventually reaches a decision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Achieved through majority voting (quorums) to maintain overlap between decisions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Used by consensus algorithms like Paxos and Raft to replicate logs consistently across servers</a:t>
            </a:r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FE5"/>
        </a:solidFill>
        <a:effectLst/>
      </p:bgPr>
    </p:bg>
    <p:spTree>
      <p:nvGrpSpPr>
        <p:cNvPr id="1" name="Shape 64">
          <a:extLst>
            <a:ext uri="{FF2B5EF4-FFF2-40B4-BE49-F238E27FC236}">
              <a16:creationId xmlns:a16="http://schemas.microsoft.com/office/drawing/2014/main" id="{9E0EA155-3067-A5EC-14F3-9105E6A4B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8">
            <a:extLst>
              <a:ext uri="{FF2B5EF4-FFF2-40B4-BE49-F238E27FC236}">
                <a16:creationId xmlns:a16="http://schemas.microsoft.com/office/drawing/2014/main" id="{EF99D06D-1795-B8C7-C877-5F93DDAB9F0C}"/>
              </a:ext>
            </a:extLst>
          </p:cNvPr>
          <p:cNvGrpSpPr/>
          <p:nvPr/>
        </p:nvGrpSpPr>
        <p:grpSpPr>
          <a:xfrm>
            <a:off x="1028701" y="1106129"/>
            <a:ext cx="10209900" cy="8518191"/>
            <a:chOff x="0" y="-9525"/>
            <a:chExt cx="4274726" cy="1260348"/>
          </a:xfrm>
        </p:grpSpPr>
        <p:sp>
          <p:nvSpPr>
            <p:cNvPr id="67" name="Google Shape;67;p8">
              <a:extLst>
                <a:ext uri="{FF2B5EF4-FFF2-40B4-BE49-F238E27FC236}">
                  <a16:creationId xmlns:a16="http://schemas.microsoft.com/office/drawing/2014/main" id="{75D780E6-0285-5078-5CB4-A44C2A210EA3}"/>
                </a:ext>
              </a:extLst>
            </p:cNvPr>
            <p:cNvSpPr/>
            <p:nvPr/>
          </p:nvSpPr>
          <p:spPr>
            <a:xfrm>
              <a:off x="0" y="0"/>
              <a:ext cx="4274726" cy="1250823"/>
            </a:xfrm>
            <a:custGeom>
              <a:avLst/>
              <a:gdLst/>
              <a:ahLst/>
              <a:cxnLst/>
              <a:rect l="l" t="t" r="r" b="b"/>
              <a:pathLst>
                <a:path w="4274726" h="1250823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0823"/>
                  </a:lnTo>
                  <a:lnTo>
                    <a:pt x="0" y="1250823"/>
                  </a:lnTo>
                  <a:close/>
                </a:path>
              </a:pathLst>
            </a:custGeom>
            <a:solidFill>
              <a:srgbClr val="25327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Google Shape;68;p8">
              <a:extLst>
                <a:ext uri="{FF2B5EF4-FFF2-40B4-BE49-F238E27FC236}">
                  <a16:creationId xmlns:a16="http://schemas.microsoft.com/office/drawing/2014/main" id="{72418093-CEA3-6881-DDF1-778E8FF9FE8B}"/>
                </a:ext>
              </a:extLst>
            </p:cNvPr>
            <p:cNvSpPr txBox="1"/>
            <p:nvPr/>
          </p:nvSpPr>
          <p:spPr>
            <a:xfrm>
              <a:off x="0" y="-9525"/>
              <a:ext cx="4274726" cy="12603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Google Shape;59;p7">
            <a:extLst>
              <a:ext uri="{FF2B5EF4-FFF2-40B4-BE49-F238E27FC236}">
                <a16:creationId xmlns:a16="http://schemas.microsoft.com/office/drawing/2014/main" id="{4722AF01-A485-2A54-3A20-7C4448024088}"/>
              </a:ext>
            </a:extLst>
          </p:cNvPr>
          <p:cNvSpPr txBox="1"/>
          <p:nvPr/>
        </p:nvSpPr>
        <p:spPr>
          <a:xfrm>
            <a:off x="16682530" y="403013"/>
            <a:ext cx="753726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rPr>
              <a:t>CSD</a:t>
            </a:r>
            <a:r>
              <a:rPr lang="en-US" sz="1200" b="1" i="0" u="none" strike="noStrike" cap="none" dirty="0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rPr>
              <a:t>438</a:t>
            </a:r>
            <a:endParaRPr dirty="0"/>
          </a:p>
        </p:txBody>
      </p:sp>
      <p:sp>
        <p:nvSpPr>
          <p:cNvPr id="5" name="Google Shape;60;p7">
            <a:extLst>
              <a:ext uri="{FF2B5EF4-FFF2-40B4-BE49-F238E27FC236}">
                <a16:creationId xmlns:a16="http://schemas.microsoft.com/office/drawing/2014/main" id="{0772D01E-5BB9-D567-1891-A1542311251D}"/>
              </a:ext>
            </a:extLst>
          </p:cNvPr>
          <p:cNvSpPr txBox="1"/>
          <p:nvPr/>
        </p:nvSpPr>
        <p:spPr>
          <a:xfrm>
            <a:off x="688528" y="403853"/>
            <a:ext cx="522985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253278"/>
                </a:solidFill>
                <a:latin typeface="Inter"/>
                <a:ea typeface="Inter"/>
                <a:sym typeface="Inter"/>
              </a:rPr>
              <a:t>MID TERM PROJECT REVIEW</a:t>
            </a:r>
            <a:endParaRPr dirty="0"/>
          </a:p>
        </p:txBody>
      </p:sp>
      <p:sp>
        <p:nvSpPr>
          <p:cNvPr id="2" name="Google Shape;69;p8">
            <a:extLst>
              <a:ext uri="{FF2B5EF4-FFF2-40B4-BE49-F238E27FC236}">
                <a16:creationId xmlns:a16="http://schemas.microsoft.com/office/drawing/2014/main" id="{CF070500-A768-6E89-F1FB-D32FC8BACA06}"/>
              </a:ext>
            </a:extLst>
          </p:cNvPr>
          <p:cNvSpPr txBox="1"/>
          <p:nvPr/>
        </p:nvSpPr>
        <p:spPr>
          <a:xfrm>
            <a:off x="14427736" y="8146992"/>
            <a:ext cx="340108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dirty="0">
                <a:solidFill>
                  <a:srgbClr val="25327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RAFT</a:t>
            </a:r>
            <a:endParaRPr sz="9600" dirty="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" name="Google Shape;309;p19">
            <a:extLst>
              <a:ext uri="{FF2B5EF4-FFF2-40B4-BE49-F238E27FC236}">
                <a16:creationId xmlns:a16="http://schemas.microsoft.com/office/drawing/2014/main" id="{A2B9E82D-3EB0-7095-1BB5-8020099EFCFB}"/>
              </a:ext>
            </a:extLst>
          </p:cNvPr>
          <p:cNvSpPr/>
          <p:nvPr/>
        </p:nvSpPr>
        <p:spPr>
          <a:xfrm>
            <a:off x="13460907" y="8512787"/>
            <a:ext cx="802637" cy="779288"/>
          </a:xfrm>
          <a:custGeom>
            <a:avLst/>
            <a:gdLst/>
            <a:ahLst/>
            <a:cxnLst/>
            <a:rect l="l" t="t" r="r" b="b"/>
            <a:pathLst>
              <a:path w="802637" h="779288" extrusionOk="0">
                <a:moveTo>
                  <a:pt x="0" y="0"/>
                </a:moveTo>
                <a:lnTo>
                  <a:pt x="802638" y="0"/>
                </a:lnTo>
                <a:lnTo>
                  <a:pt x="802638" y="779288"/>
                </a:lnTo>
                <a:lnTo>
                  <a:pt x="0" y="7792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38535A-8B54-5F45-63C4-B4F6A5CD3D52}"/>
              </a:ext>
            </a:extLst>
          </p:cNvPr>
          <p:cNvSpPr txBox="1"/>
          <p:nvPr/>
        </p:nvSpPr>
        <p:spPr>
          <a:xfrm rot="10800000" flipV="1">
            <a:off x="1570178" y="1844997"/>
            <a:ext cx="9126946" cy="710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Clr>
                <a:srgbClr val="F8EFE5"/>
              </a:buClr>
              <a:buFontTx/>
              <a:buChar char="-"/>
            </a:pPr>
            <a:r>
              <a:rPr lang="en-IN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Leader-based consensus designed for clarity and implementability</a:t>
            </a:r>
          </a:p>
          <a:p>
            <a:pPr marL="342900" indent="-342900">
              <a:lnSpc>
                <a:spcPct val="200000"/>
              </a:lnSpc>
              <a:buClr>
                <a:srgbClr val="F8EFE5"/>
              </a:buClr>
              <a:buFontTx/>
              <a:buChar char="-"/>
            </a:pPr>
            <a:r>
              <a:rPr lang="en-IN" sz="2100" b="1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Purpose</a:t>
            </a:r>
            <a:r>
              <a:rPr lang="en-IN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: replicate a log consistently across servers, even with failures</a:t>
            </a:r>
          </a:p>
          <a:p>
            <a:pPr marL="342900" indent="-342900">
              <a:lnSpc>
                <a:spcPct val="200000"/>
              </a:lnSpc>
              <a:buClr>
                <a:srgbClr val="F8EFE5"/>
              </a:buClr>
              <a:buFontTx/>
              <a:buChar char="-"/>
            </a:pPr>
            <a:r>
              <a:rPr lang="en-IN" sz="2100" b="1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Server</a:t>
            </a:r>
            <a:r>
              <a:rPr lang="en-IN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IN" sz="2100" b="1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states</a:t>
            </a:r>
            <a:r>
              <a:rPr lang="en-IN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: Leader, Follower, Candidate</a:t>
            </a:r>
          </a:p>
          <a:p>
            <a:pPr marL="342900" indent="-342900">
              <a:lnSpc>
                <a:spcPct val="200000"/>
              </a:lnSpc>
              <a:buClr>
                <a:srgbClr val="F8EFE5"/>
              </a:buClr>
              <a:buFontTx/>
              <a:buChar char="-"/>
            </a:pPr>
            <a:r>
              <a:rPr lang="en-IN" sz="2100" b="1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Key</a:t>
            </a:r>
            <a:r>
              <a:rPr lang="en-IN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IN" sz="2100" b="1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components</a:t>
            </a:r>
            <a:r>
              <a:rPr lang="en-IN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:</a:t>
            </a:r>
          </a:p>
          <a:p>
            <a:pPr>
              <a:lnSpc>
                <a:spcPct val="200000"/>
              </a:lnSpc>
              <a:buClr>
                <a:srgbClr val="F8EFE5"/>
              </a:buClr>
            </a:pPr>
            <a:r>
              <a:rPr lang="en-IN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	</a:t>
            </a:r>
            <a:r>
              <a:rPr lang="en-IN" sz="2100" b="1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Leader Election</a:t>
            </a:r>
            <a:r>
              <a:rPr lang="en-IN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: random timeouts → candidate → majority 	votes → leader </a:t>
            </a:r>
          </a:p>
          <a:p>
            <a:pPr>
              <a:lnSpc>
                <a:spcPct val="200000"/>
              </a:lnSpc>
              <a:buClr>
                <a:srgbClr val="F8EFE5"/>
              </a:buClr>
            </a:pPr>
            <a:r>
              <a:rPr lang="en-IN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	</a:t>
            </a:r>
            <a:r>
              <a:rPr lang="en-IN" sz="2100" b="1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Log Replication</a:t>
            </a:r>
            <a:r>
              <a:rPr lang="en-IN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: leader appends entries → replicates to 	followers → commit on majority</a:t>
            </a:r>
          </a:p>
          <a:p>
            <a:pPr>
              <a:lnSpc>
                <a:spcPct val="200000"/>
              </a:lnSpc>
              <a:buClr>
                <a:srgbClr val="F8EFE5"/>
              </a:buClr>
            </a:pPr>
            <a:r>
              <a:rPr lang="en-IN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	</a:t>
            </a:r>
            <a:r>
              <a:rPr lang="en-IN" sz="2100" b="1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Safety</a:t>
            </a:r>
            <a:r>
              <a:rPr lang="en-IN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: no conflicting commits; leader contains all committed 	entries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6F82FA3-FD93-ECD9-3CFF-5C1B68FF1C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72999" y="3054262"/>
            <a:ext cx="468630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318842"/>
      </p:ext>
    </p:extLst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278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8F252998-77C3-9BD5-C85F-FB4086A9D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>
            <a:extLst>
              <a:ext uri="{FF2B5EF4-FFF2-40B4-BE49-F238E27FC236}">
                <a16:creationId xmlns:a16="http://schemas.microsoft.com/office/drawing/2014/main" id="{EBC815BB-75A1-8B9A-E166-00E96DDB1806}"/>
              </a:ext>
            </a:extLst>
          </p:cNvPr>
          <p:cNvSpPr txBox="1"/>
          <p:nvPr/>
        </p:nvSpPr>
        <p:spPr>
          <a:xfrm>
            <a:off x="688528" y="1277182"/>
            <a:ext cx="1363215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i="0" u="none" strike="noStrike" cap="none" dirty="0">
                <a:solidFill>
                  <a:srgbClr val="F8EFE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RAFT: STEP BY STEP</a:t>
            </a:r>
            <a:endParaRPr lang="en-US" sz="8000" dirty="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" name="Google Shape;85;p9">
            <a:extLst>
              <a:ext uri="{FF2B5EF4-FFF2-40B4-BE49-F238E27FC236}">
                <a16:creationId xmlns:a16="http://schemas.microsoft.com/office/drawing/2014/main" id="{318F5F5D-D563-CA5A-4E82-D5A578E771A3}"/>
              </a:ext>
            </a:extLst>
          </p:cNvPr>
          <p:cNvSpPr txBox="1"/>
          <p:nvPr/>
        </p:nvSpPr>
        <p:spPr>
          <a:xfrm>
            <a:off x="16682530" y="403013"/>
            <a:ext cx="753726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CSD438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6" name="Google Shape;86;p9">
            <a:extLst>
              <a:ext uri="{FF2B5EF4-FFF2-40B4-BE49-F238E27FC236}">
                <a16:creationId xmlns:a16="http://schemas.microsoft.com/office/drawing/2014/main" id="{44090F00-43DE-C698-EB0E-BC826E7AF665}"/>
              </a:ext>
            </a:extLst>
          </p:cNvPr>
          <p:cNvSpPr txBox="1"/>
          <p:nvPr/>
        </p:nvSpPr>
        <p:spPr>
          <a:xfrm>
            <a:off x="688528" y="403853"/>
            <a:ext cx="522985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MID TERM PROJECT REVIEW</a:t>
            </a:r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2" name="Google Shape;66;p8">
            <a:extLst>
              <a:ext uri="{FF2B5EF4-FFF2-40B4-BE49-F238E27FC236}">
                <a16:creationId xmlns:a16="http://schemas.microsoft.com/office/drawing/2014/main" id="{02AB4734-4653-1C7F-CD9F-9A3D522AF229}"/>
              </a:ext>
            </a:extLst>
          </p:cNvPr>
          <p:cNvGrpSpPr/>
          <p:nvPr/>
        </p:nvGrpSpPr>
        <p:grpSpPr>
          <a:xfrm>
            <a:off x="881216" y="3036908"/>
            <a:ext cx="16555040" cy="6336577"/>
            <a:chOff x="0" y="-9525"/>
            <a:chExt cx="4274726" cy="1260348"/>
          </a:xfrm>
          <a:solidFill>
            <a:srgbClr val="F8EFE5"/>
          </a:solidFill>
        </p:grpSpPr>
        <p:sp>
          <p:nvSpPr>
            <p:cNvPr id="3" name="Google Shape;67;p8">
              <a:extLst>
                <a:ext uri="{FF2B5EF4-FFF2-40B4-BE49-F238E27FC236}">
                  <a16:creationId xmlns:a16="http://schemas.microsoft.com/office/drawing/2014/main" id="{0915DB28-B354-498E-515C-AB7427115B68}"/>
                </a:ext>
              </a:extLst>
            </p:cNvPr>
            <p:cNvSpPr/>
            <p:nvPr/>
          </p:nvSpPr>
          <p:spPr>
            <a:xfrm>
              <a:off x="0" y="0"/>
              <a:ext cx="4274726" cy="1250823"/>
            </a:xfrm>
            <a:custGeom>
              <a:avLst/>
              <a:gdLst/>
              <a:ahLst/>
              <a:cxnLst/>
              <a:rect l="l" t="t" r="r" b="b"/>
              <a:pathLst>
                <a:path w="4274726" h="1250823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0823"/>
                  </a:lnTo>
                  <a:lnTo>
                    <a:pt x="0" y="12508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Google Shape;68;p8">
              <a:extLst>
                <a:ext uri="{FF2B5EF4-FFF2-40B4-BE49-F238E27FC236}">
                  <a16:creationId xmlns:a16="http://schemas.microsoft.com/office/drawing/2014/main" id="{CE67B9C6-5FFA-2E89-A37B-11BDD7D654B8}"/>
                </a:ext>
              </a:extLst>
            </p:cNvPr>
            <p:cNvSpPr txBox="1"/>
            <p:nvPr/>
          </p:nvSpPr>
          <p:spPr>
            <a:xfrm>
              <a:off x="0" y="-9525"/>
              <a:ext cx="4274726" cy="126034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8EFE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0F33F29-8B8E-6D7F-0AF0-09D713924697}"/>
              </a:ext>
            </a:extLst>
          </p:cNvPr>
          <p:cNvSpPr txBox="1"/>
          <p:nvPr/>
        </p:nvSpPr>
        <p:spPr>
          <a:xfrm>
            <a:off x="1355799" y="4745661"/>
            <a:ext cx="15576401" cy="2919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1. System Setup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Cluster of servers; each can be a </a:t>
            </a:r>
            <a:r>
              <a:rPr lang="en-US" sz="2100" b="1" i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Follower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, </a:t>
            </a:r>
            <a:r>
              <a:rPr lang="en-US" sz="2100" b="1" i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Candidate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, or </a:t>
            </a:r>
            <a:r>
              <a:rPr lang="en-US" sz="2100" b="1" i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Leader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Time is divided into </a:t>
            </a:r>
            <a:r>
              <a:rPr lang="en-US" sz="2100" b="1" i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terms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; each term begins with a new election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Every server stores: </a:t>
            </a:r>
            <a:r>
              <a:rPr lang="en-US" sz="2100" b="1" i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current term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, </a:t>
            </a:r>
            <a:r>
              <a:rPr lang="en-US" sz="2100" b="1" i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votedFor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, and a </a:t>
            </a:r>
            <a:r>
              <a:rPr lang="en-US" sz="2100" b="1" i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replicated log</a:t>
            </a:r>
          </a:p>
        </p:txBody>
      </p:sp>
    </p:spTree>
    <p:extLst>
      <p:ext uri="{BB962C8B-B14F-4D97-AF65-F5344CB8AC3E}">
        <p14:creationId xmlns:p14="http://schemas.microsoft.com/office/powerpoint/2010/main" val="4094054264"/>
      </p:ext>
    </p:extLst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278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CE9F380F-E554-4FF9-1EB5-AAFEFCA5E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>
            <a:extLst>
              <a:ext uri="{FF2B5EF4-FFF2-40B4-BE49-F238E27FC236}">
                <a16:creationId xmlns:a16="http://schemas.microsoft.com/office/drawing/2014/main" id="{B23A4391-270B-F72C-329F-94E199641DF7}"/>
              </a:ext>
            </a:extLst>
          </p:cNvPr>
          <p:cNvSpPr txBox="1"/>
          <p:nvPr/>
        </p:nvSpPr>
        <p:spPr>
          <a:xfrm>
            <a:off x="688528" y="1277182"/>
            <a:ext cx="1363215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i="0" u="none" strike="noStrike" cap="none" dirty="0">
                <a:solidFill>
                  <a:srgbClr val="F8EFE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RAFT: STEP BY STEP</a:t>
            </a:r>
            <a:endParaRPr lang="en-US" sz="8000" dirty="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" name="Google Shape;85;p9">
            <a:extLst>
              <a:ext uri="{FF2B5EF4-FFF2-40B4-BE49-F238E27FC236}">
                <a16:creationId xmlns:a16="http://schemas.microsoft.com/office/drawing/2014/main" id="{D5048578-D855-9D00-CEFE-B152A4564A6B}"/>
              </a:ext>
            </a:extLst>
          </p:cNvPr>
          <p:cNvSpPr txBox="1"/>
          <p:nvPr/>
        </p:nvSpPr>
        <p:spPr>
          <a:xfrm>
            <a:off x="16682530" y="403013"/>
            <a:ext cx="753726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CSD438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6" name="Google Shape;86;p9">
            <a:extLst>
              <a:ext uri="{FF2B5EF4-FFF2-40B4-BE49-F238E27FC236}">
                <a16:creationId xmlns:a16="http://schemas.microsoft.com/office/drawing/2014/main" id="{F1456911-9A3E-147A-9563-98D95AE6EF85}"/>
              </a:ext>
            </a:extLst>
          </p:cNvPr>
          <p:cNvSpPr txBox="1"/>
          <p:nvPr/>
        </p:nvSpPr>
        <p:spPr>
          <a:xfrm>
            <a:off x="688528" y="403853"/>
            <a:ext cx="522985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MID TERM PROJECT REVIEW</a:t>
            </a:r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2" name="Google Shape;66;p8">
            <a:extLst>
              <a:ext uri="{FF2B5EF4-FFF2-40B4-BE49-F238E27FC236}">
                <a16:creationId xmlns:a16="http://schemas.microsoft.com/office/drawing/2014/main" id="{56EF6083-4534-410F-B751-B2F581C4C251}"/>
              </a:ext>
            </a:extLst>
          </p:cNvPr>
          <p:cNvGrpSpPr/>
          <p:nvPr/>
        </p:nvGrpSpPr>
        <p:grpSpPr>
          <a:xfrm>
            <a:off x="881216" y="3036908"/>
            <a:ext cx="16555040" cy="6336577"/>
            <a:chOff x="0" y="-9525"/>
            <a:chExt cx="4274726" cy="1260348"/>
          </a:xfrm>
          <a:solidFill>
            <a:srgbClr val="F8EFE5"/>
          </a:solidFill>
        </p:grpSpPr>
        <p:sp>
          <p:nvSpPr>
            <p:cNvPr id="3" name="Google Shape;67;p8">
              <a:extLst>
                <a:ext uri="{FF2B5EF4-FFF2-40B4-BE49-F238E27FC236}">
                  <a16:creationId xmlns:a16="http://schemas.microsoft.com/office/drawing/2014/main" id="{86DF3696-FA2C-E496-2E49-7A056BA5C578}"/>
                </a:ext>
              </a:extLst>
            </p:cNvPr>
            <p:cNvSpPr/>
            <p:nvPr/>
          </p:nvSpPr>
          <p:spPr>
            <a:xfrm>
              <a:off x="0" y="0"/>
              <a:ext cx="4274726" cy="1250823"/>
            </a:xfrm>
            <a:custGeom>
              <a:avLst/>
              <a:gdLst/>
              <a:ahLst/>
              <a:cxnLst/>
              <a:rect l="l" t="t" r="r" b="b"/>
              <a:pathLst>
                <a:path w="4274726" h="1250823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0823"/>
                  </a:lnTo>
                  <a:lnTo>
                    <a:pt x="0" y="12508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Google Shape;68;p8">
              <a:extLst>
                <a:ext uri="{FF2B5EF4-FFF2-40B4-BE49-F238E27FC236}">
                  <a16:creationId xmlns:a16="http://schemas.microsoft.com/office/drawing/2014/main" id="{409A6E6C-CB5E-1C77-A270-8AD71D3A0B7C}"/>
                </a:ext>
              </a:extLst>
            </p:cNvPr>
            <p:cNvSpPr txBox="1"/>
            <p:nvPr/>
          </p:nvSpPr>
          <p:spPr>
            <a:xfrm>
              <a:off x="0" y="-9525"/>
              <a:ext cx="4274726" cy="126034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8EFE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4505F49-6D4B-42FE-70C0-18D6E76FB9CE}"/>
              </a:ext>
            </a:extLst>
          </p:cNvPr>
          <p:cNvSpPr txBox="1"/>
          <p:nvPr/>
        </p:nvSpPr>
        <p:spPr>
          <a:xfrm>
            <a:off x="1355799" y="4745661"/>
            <a:ext cx="15576401" cy="2919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2. Normal Operation (Follower)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Followers stay passive and respond to </a:t>
            </a:r>
            <a:r>
              <a:rPr lang="en-US" sz="2100" b="1" i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RPCs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 from others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Expect </a:t>
            </a:r>
            <a:r>
              <a:rPr lang="en-US" sz="2100" b="1" i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heartbeats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 (</a:t>
            </a:r>
            <a:r>
              <a:rPr lang="en-US" sz="2100" b="1" i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AppendEntries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) from the leader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If no heartbeat within election timeout → become </a:t>
            </a:r>
            <a:r>
              <a:rPr lang="en-US" sz="2100" b="1" i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Candidate</a:t>
            </a:r>
          </a:p>
        </p:txBody>
      </p:sp>
    </p:spTree>
    <p:extLst>
      <p:ext uri="{BB962C8B-B14F-4D97-AF65-F5344CB8AC3E}">
        <p14:creationId xmlns:p14="http://schemas.microsoft.com/office/powerpoint/2010/main" val="2851332076"/>
      </p:ext>
    </p:extLst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278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EBF39481-2B1A-1A64-F21F-8CB55F66D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>
            <a:extLst>
              <a:ext uri="{FF2B5EF4-FFF2-40B4-BE49-F238E27FC236}">
                <a16:creationId xmlns:a16="http://schemas.microsoft.com/office/drawing/2014/main" id="{F8C927FF-E514-F44F-1FA8-96A408E99EC5}"/>
              </a:ext>
            </a:extLst>
          </p:cNvPr>
          <p:cNvSpPr txBox="1"/>
          <p:nvPr/>
        </p:nvSpPr>
        <p:spPr>
          <a:xfrm>
            <a:off x="688528" y="1277182"/>
            <a:ext cx="1363215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i="0" u="none" strike="noStrike" cap="none" dirty="0">
                <a:solidFill>
                  <a:srgbClr val="F8EFE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RAFT: STEP BY STEP</a:t>
            </a:r>
            <a:endParaRPr lang="en-US" sz="8000" dirty="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" name="Google Shape;85;p9">
            <a:extLst>
              <a:ext uri="{FF2B5EF4-FFF2-40B4-BE49-F238E27FC236}">
                <a16:creationId xmlns:a16="http://schemas.microsoft.com/office/drawing/2014/main" id="{6D6FB26D-45AC-FC47-A110-29E0F26C7F9B}"/>
              </a:ext>
            </a:extLst>
          </p:cNvPr>
          <p:cNvSpPr txBox="1"/>
          <p:nvPr/>
        </p:nvSpPr>
        <p:spPr>
          <a:xfrm>
            <a:off x="16682530" y="403013"/>
            <a:ext cx="753726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CSD438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6" name="Google Shape;86;p9">
            <a:extLst>
              <a:ext uri="{FF2B5EF4-FFF2-40B4-BE49-F238E27FC236}">
                <a16:creationId xmlns:a16="http://schemas.microsoft.com/office/drawing/2014/main" id="{ACCB8334-CDF8-ED0C-4EE9-82B8A820A179}"/>
              </a:ext>
            </a:extLst>
          </p:cNvPr>
          <p:cNvSpPr txBox="1"/>
          <p:nvPr/>
        </p:nvSpPr>
        <p:spPr>
          <a:xfrm>
            <a:off x="688528" y="403853"/>
            <a:ext cx="522985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MID TERM PROJECT REVIEW</a:t>
            </a:r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2" name="Google Shape;66;p8">
            <a:extLst>
              <a:ext uri="{FF2B5EF4-FFF2-40B4-BE49-F238E27FC236}">
                <a16:creationId xmlns:a16="http://schemas.microsoft.com/office/drawing/2014/main" id="{81A68FCC-4998-2353-5E12-5FE3AA8D58D8}"/>
              </a:ext>
            </a:extLst>
          </p:cNvPr>
          <p:cNvGrpSpPr/>
          <p:nvPr/>
        </p:nvGrpSpPr>
        <p:grpSpPr>
          <a:xfrm>
            <a:off x="881216" y="3036908"/>
            <a:ext cx="16555040" cy="6336577"/>
            <a:chOff x="0" y="-9525"/>
            <a:chExt cx="4274726" cy="1260348"/>
          </a:xfrm>
          <a:solidFill>
            <a:srgbClr val="F8EFE5"/>
          </a:solidFill>
        </p:grpSpPr>
        <p:sp>
          <p:nvSpPr>
            <p:cNvPr id="3" name="Google Shape;67;p8">
              <a:extLst>
                <a:ext uri="{FF2B5EF4-FFF2-40B4-BE49-F238E27FC236}">
                  <a16:creationId xmlns:a16="http://schemas.microsoft.com/office/drawing/2014/main" id="{2B056E6C-9DCC-14C5-29DA-5600F9F0B5C4}"/>
                </a:ext>
              </a:extLst>
            </p:cNvPr>
            <p:cNvSpPr/>
            <p:nvPr/>
          </p:nvSpPr>
          <p:spPr>
            <a:xfrm>
              <a:off x="0" y="0"/>
              <a:ext cx="4274726" cy="1250823"/>
            </a:xfrm>
            <a:custGeom>
              <a:avLst/>
              <a:gdLst/>
              <a:ahLst/>
              <a:cxnLst/>
              <a:rect l="l" t="t" r="r" b="b"/>
              <a:pathLst>
                <a:path w="4274726" h="1250823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0823"/>
                  </a:lnTo>
                  <a:lnTo>
                    <a:pt x="0" y="12508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Google Shape;68;p8">
              <a:extLst>
                <a:ext uri="{FF2B5EF4-FFF2-40B4-BE49-F238E27FC236}">
                  <a16:creationId xmlns:a16="http://schemas.microsoft.com/office/drawing/2014/main" id="{566E4A44-6666-D256-CD62-C847C0FAE193}"/>
                </a:ext>
              </a:extLst>
            </p:cNvPr>
            <p:cNvSpPr txBox="1"/>
            <p:nvPr/>
          </p:nvSpPr>
          <p:spPr>
            <a:xfrm>
              <a:off x="0" y="-9525"/>
              <a:ext cx="4274726" cy="126034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8EFE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F5485BF-0375-A172-360F-E836A4CDC2A6}"/>
              </a:ext>
            </a:extLst>
          </p:cNvPr>
          <p:cNvSpPr txBox="1"/>
          <p:nvPr/>
        </p:nvSpPr>
        <p:spPr>
          <a:xfrm>
            <a:off x="1355799" y="4099331"/>
            <a:ext cx="15576401" cy="4211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3. Leader Election</a:t>
            </a:r>
            <a:endParaRPr lang="en-US" sz="2100" dirty="0">
              <a:solidFill>
                <a:srgbClr val="253278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Candidate increments its term and votes for itself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Sends </a:t>
            </a:r>
            <a:r>
              <a:rPr lang="en-US" sz="2100" b="1" i="1" dirty="0" err="1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RequestVote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 RPCs to all other servers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Servers grant vote if candidate’s log is at least as up-to-date as theirs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If candidate gets majority votes, it becomes </a:t>
            </a:r>
            <a:r>
              <a:rPr lang="en-US" sz="2100" b="1" i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Leader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If election times out (split vote), starts a new term with a randomized timeout</a:t>
            </a:r>
            <a:endParaRPr lang="en-US" sz="2100" i="1" dirty="0">
              <a:solidFill>
                <a:srgbClr val="253278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699761"/>
      </p:ext>
    </p:extLst>
  </p:cSld>
  <p:clrMapOvr>
    <a:masterClrMapping/>
  </p:clrMapOvr>
  <p:transition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278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73727BEA-0939-F783-FA51-CA140D67B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>
            <a:extLst>
              <a:ext uri="{FF2B5EF4-FFF2-40B4-BE49-F238E27FC236}">
                <a16:creationId xmlns:a16="http://schemas.microsoft.com/office/drawing/2014/main" id="{C9D9C29E-0F45-E080-6778-2F053AC80CC3}"/>
              </a:ext>
            </a:extLst>
          </p:cNvPr>
          <p:cNvSpPr txBox="1"/>
          <p:nvPr/>
        </p:nvSpPr>
        <p:spPr>
          <a:xfrm>
            <a:off x="688528" y="1277182"/>
            <a:ext cx="1363215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i="0" u="none" strike="noStrike" cap="none" dirty="0">
                <a:solidFill>
                  <a:srgbClr val="F8EFE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RAFT: STEP BY STEP</a:t>
            </a:r>
            <a:endParaRPr lang="en-US" sz="8000" dirty="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" name="Google Shape;85;p9">
            <a:extLst>
              <a:ext uri="{FF2B5EF4-FFF2-40B4-BE49-F238E27FC236}">
                <a16:creationId xmlns:a16="http://schemas.microsoft.com/office/drawing/2014/main" id="{D8813DEB-ECE8-29C2-68BF-60A1E6947A18}"/>
              </a:ext>
            </a:extLst>
          </p:cNvPr>
          <p:cNvSpPr txBox="1"/>
          <p:nvPr/>
        </p:nvSpPr>
        <p:spPr>
          <a:xfrm>
            <a:off x="16682530" y="403013"/>
            <a:ext cx="753726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CSD438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6" name="Google Shape;86;p9">
            <a:extLst>
              <a:ext uri="{FF2B5EF4-FFF2-40B4-BE49-F238E27FC236}">
                <a16:creationId xmlns:a16="http://schemas.microsoft.com/office/drawing/2014/main" id="{5F52090D-C789-7539-0FF5-BA88034FB999}"/>
              </a:ext>
            </a:extLst>
          </p:cNvPr>
          <p:cNvSpPr txBox="1"/>
          <p:nvPr/>
        </p:nvSpPr>
        <p:spPr>
          <a:xfrm>
            <a:off x="688528" y="403853"/>
            <a:ext cx="522985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MID TERM PROJECT REVIEW</a:t>
            </a:r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2" name="Google Shape;66;p8">
            <a:extLst>
              <a:ext uri="{FF2B5EF4-FFF2-40B4-BE49-F238E27FC236}">
                <a16:creationId xmlns:a16="http://schemas.microsoft.com/office/drawing/2014/main" id="{61DCA84F-1112-91A4-0ED2-366D65F5C094}"/>
              </a:ext>
            </a:extLst>
          </p:cNvPr>
          <p:cNvGrpSpPr/>
          <p:nvPr/>
        </p:nvGrpSpPr>
        <p:grpSpPr>
          <a:xfrm>
            <a:off x="881216" y="3036908"/>
            <a:ext cx="16555040" cy="6336577"/>
            <a:chOff x="0" y="-9525"/>
            <a:chExt cx="4274726" cy="1260348"/>
          </a:xfrm>
          <a:solidFill>
            <a:srgbClr val="F8EFE5"/>
          </a:solidFill>
        </p:grpSpPr>
        <p:sp>
          <p:nvSpPr>
            <p:cNvPr id="3" name="Google Shape;67;p8">
              <a:extLst>
                <a:ext uri="{FF2B5EF4-FFF2-40B4-BE49-F238E27FC236}">
                  <a16:creationId xmlns:a16="http://schemas.microsoft.com/office/drawing/2014/main" id="{B822F27F-F629-04AD-92A7-32326E29F952}"/>
                </a:ext>
              </a:extLst>
            </p:cNvPr>
            <p:cNvSpPr/>
            <p:nvPr/>
          </p:nvSpPr>
          <p:spPr>
            <a:xfrm>
              <a:off x="0" y="0"/>
              <a:ext cx="4274726" cy="1250823"/>
            </a:xfrm>
            <a:custGeom>
              <a:avLst/>
              <a:gdLst/>
              <a:ahLst/>
              <a:cxnLst/>
              <a:rect l="l" t="t" r="r" b="b"/>
              <a:pathLst>
                <a:path w="4274726" h="1250823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0823"/>
                  </a:lnTo>
                  <a:lnTo>
                    <a:pt x="0" y="12508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Google Shape;68;p8">
              <a:extLst>
                <a:ext uri="{FF2B5EF4-FFF2-40B4-BE49-F238E27FC236}">
                  <a16:creationId xmlns:a16="http://schemas.microsoft.com/office/drawing/2014/main" id="{69AEFCEC-602F-4B78-BA6A-F0F4F6ACB834}"/>
                </a:ext>
              </a:extLst>
            </p:cNvPr>
            <p:cNvSpPr txBox="1"/>
            <p:nvPr/>
          </p:nvSpPr>
          <p:spPr>
            <a:xfrm>
              <a:off x="0" y="-9525"/>
              <a:ext cx="4274726" cy="126034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8EFE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9C1AB2D-0602-DD6F-85CD-DC51E5C6BAEB}"/>
              </a:ext>
            </a:extLst>
          </p:cNvPr>
          <p:cNvSpPr txBox="1"/>
          <p:nvPr/>
        </p:nvSpPr>
        <p:spPr>
          <a:xfrm>
            <a:off x="1370535" y="4099331"/>
            <a:ext cx="15576401" cy="4211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4. Log Replication (Leader)</a:t>
            </a:r>
            <a:endParaRPr lang="en-US" sz="2100" dirty="0">
              <a:solidFill>
                <a:srgbClr val="253278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b="1" i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Leader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 receives client commands and appends them to its </a:t>
            </a:r>
            <a:r>
              <a:rPr lang="en-US" sz="2100" b="1" i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log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Sends </a:t>
            </a:r>
            <a:r>
              <a:rPr lang="en-US" sz="2100" b="1" i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AppendEntries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 RPCs to followers to replicate entries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b="1" i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Followers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 append new entries to their logs if they match the leader’s log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Once an entry is stored on a majority of servers, the leader </a:t>
            </a:r>
            <a:r>
              <a:rPr lang="en-US" sz="2100" b="1" i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commits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 it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The leader and followers apply committed entries to their </a:t>
            </a:r>
            <a:r>
              <a:rPr lang="en-US" sz="2100" b="1" i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state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1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machines</a:t>
            </a:r>
          </a:p>
        </p:txBody>
      </p:sp>
    </p:spTree>
    <p:extLst>
      <p:ext uri="{BB962C8B-B14F-4D97-AF65-F5344CB8AC3E}">
        <p14:creationId xmlns:p14="http://schemas.microsoft.com/office/powerpoint/2010/main" val="4109055953"/>
      </p:ext>
    </p:extLst>
  </p:cSld>
  <p:clrMapOvr>
    <a:masterClrMapping/>
  </p:clrMapOvr>
  <p:transition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278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771213CE-F5B1-E2C5-4477-1749A85E4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>
            <a:extLst>
              <a:ext uri="{FF2B5EF4-FFF2-40B4-BE49-F238E27FC236}">
                <a16:creationId xmlns:a16="http://schemas.microsoft.com/office/drawing/2014/main" id="{EC403F34-F967-AB04-C955-2524AD36D9F4}"/>
              </a:ext>
            </a:extLst>
          </p:cNvPr>
          <p:cNvSpPr txBox="1"/>
          <p:nvPr/>
        </p:nvSpPr>
        <p:spPr>
          <a:xfrm>
            <a:off x="688528" y="1277182"/>
            <a:ext cx="1363215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i="0" u="none" strike="noStrike" cap="none" dirty="0">
                <a:solidFill>
                  <a:srgbClr val="F8EFE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RAFT: STEP BY STEP</a:t>
            </a:r>
            <a:endParaRPr lang="en-US" sz="8000" dirty="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" name="Google Shape;85;p9">
            <a:extLst>
              <a:ext uri="{FF2B5EF4-FFF2-40B4-BE49-F238E27FC236}">
                <a16:creationId xmlns:a16="http://schemas.microsoft.com/office/drawing/2014/main" id="{74E861E8-31D9-285E-70A5-6E3979A02036}"/>
              </a:ext>
            </a:extLst>
          </p:cNvPr>
          <p:cNvSpPr txBox="1"/>
          <p:nvPr/>
        </p:nvSpPr>
        <p:spPr>
          <a:xfrm>
            <a:off x="16682530" y="403013"/>
            <a:ext cx="753726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CSD438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6" name="Google Shape;86;p9">
            <a:extLst>
              <a:ext uri="{FF2B5EF4-FFF2-40B4-BE49-F238E27FC236}">
                <a16:creationId xmlns:a16="http://schemas.microsoft.com/office/drawing/2014/main" id="{B5DD7906-08B0-76C9-1F3C-C2739C3161D7}"/>
              </a:ext>
            </a:extLst>
          </p:cNvPr>
          <p:cNvSpPr txBox="1"/>
          <p:nvPr/>
        </p:nvSpPr>
        <p:spPr>
          <a:xfrm>
            <a:off x="688528" y="403853"/>
            <a:ext cx="522985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MID TERM PROJECT REVIEW</a:t>
            </a:r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2" name="Google Shape;66;p8">
            <a:extLst>
              <a:ext uri="{FF2B5EF4-FFF2-40B4-BE49-F238E27FC236}">
                <a16:creationId xmlns:a16="http://schemas.microsoft.com/office/drawing/2014/main" id="{55E237F8-9E50-5788-8515-ECA740BA123A}"/>
              </a:ext>
            </a:extLst>
          </p:cNvPr>
          <p:cNvGrpSpPr/>
          <p:nvPr/>
        </p:nvGrpSpPr>
        <p:grpSpPr>
          <a:xfrm>
            <a:off x="881216" y="3036908"/>
            <a:ext cx="16555040" cy="6336577"/>
            <a:chOff x="0" y="-9525"/>
            <a:chExt cx="4274726" cy="1260348"/>
          </a:xfrm>
          <a:solidFill>
            <a:srgbClr val="F8EFE5"/>
          </a:solidFill>
        </p:grpSpPr>
        <p:sp>
          <p:nvSpPr>
            <p:cNvPr id="3" name="Google Shape;67;p8">
              <a:extLst>
                <a:ext uri="{FF2B5EF4-FFF2-40B4-BE49-F238E27FC236}">
                  <a16:creationId xmlns:a16="http://schemas.microsoft.com/office/drawing/2014/main" id="{49676415-8548-28AC-3135-A8D56E98331A}"/>
                </a:ext>
              </a:extLst>
            </p:cNvPr>
            <p:cNvSpPr/>
            <p:nvPr/>
          </p:nvSpPr>
          <p:spPr>
            <a:xfrm>
              <a:off x="0" y="0"/>
              <a:ext cx="4274726" cy="1250823"/>
            </a:xfrm>
            <a:custGeom>
              <a:avLst/>
              <a:gdLst/>
              <a:ahLst/>
              <a:cxnLst/>
              <a:rect l="l" t="t" r="r" b="b"/>
              <a:pathLst>
                <a:path w="4274726" h="1250823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0823"/>
                  </a:lnTo>
                  <a:lnTo>
                    <a:pt x="0" y="12508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Google Shape;68;p8">
              <a:extLst>
                <a:ext uri="{FF2B5EF4-FFF2-40B4-BE49-F238E27FC236}">
                  <a16:creationId xmlns:a16="http://schemas.microsoft.com/office/drawing/2014/main" id="{DBCA7367-FDB5-831D-5AE7-04F2D567460D}"/>
                </a:ext>
              </a:extLst>
            </p:cNvPr>
            <p:cNvSpPr txBox="1"/>
            <p:nvPr/>
          </p:nvSpPr>
          <p:spPr>
            <a:xfrm>
              <a:off x="0" y="-9525"/>
              <a:ext cx="4274726" cy="126034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8EFE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771B788-BE5E-6709-D912-3FCE8B508E03}"/>
              </a:ext>
            </a:extLst>
          </p:cNvPr>
          <p:cNvSpPr txBox="1"/>
          <p:nvPr/>
        </p:nvSpPr>
        <p:spPr>
          <a:xfrm>
            <a:off x="1370535" y="4745661"/>
            <a:ext cx="15576401" cy="2919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5. Maintaining Consistency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b="1" i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Log Matching Property: 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If two logs share the same index and term, all preceding entries are identical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b="1" i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Conflict Resolution: 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If follower’s log conflicts, it deletes mismatched entries and appends the leader’s version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b="1" i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Leader Completeness: 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Leader’s log always contains all committed entries from previous terms</a:t>
            </a:r>
            <a:endParaRPr lang="en-US" sz="2100" b="1" i="1" dirty="0">
              <a:solidFill>
                <a:srgbClr val="253278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117893"/>
      </p:ext>
    </p:extLst>
  </p:cSld>
  <p:clrMapOvr>
    <a:masterClrMapping/>
  </p:clrMapOvr>
  <p:transition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278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1030AC4C-EFB1-9518-8A69-50B327769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>
            <a:extLst>
              <a:ext uri="{FF2B5EF4-FFF2-40B4-BE49-F238E27FC236}">
                <a16:creationId xmlns:a16="http://schemas.microsoft.com/office/drawing/2014/main" id="{8C629DAD-C436-7066-F9B0-8E6E316E4B91}"/>
              </a:ext>
            </a:extLst>
          </p:cNvPr>
          <p:cNvSpPr txBox="1"/>
          <p:nvPr/>
        </p:nvSpPr>
        <p:spPr>
          <a:xfrm>
            <a:off x="688528" y="1277182"/>
            <a:ext cx="1363215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i="0" u="none" strike="noStrike" cap="none" dirty="0">
                <a:solidFill>
                  <a:srgbClr val="F8EFE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RAFT: STEP BY STEP</a:t>
            </a:r>
            <a:endParaRPr lang="en-US" sz="8000" dirty="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" name="Google Shape;85;p9">
            <a:extLst>
              <a:ext uri="{FF2B5EF4-FFF2-40B4-BE49-F238E27FC236}">
                <a16:creationId xmlns:a16="http://schemas.microsoft.com/office/drawing/2014/main" id="{C26E2012-DE2E-F090-F129-6EB75571948B}"/>
              </a:ext>
            </a:extLst>
          </p:cNvPr>
          <p:cNvSpPr txBox="1"/>
          <p:nvPr/>
        </p:nvSpPr>
        <p:spPr>
          <a:xfrm>
            <a:off x="16682530" y="403013"/>
            <a:ext cx="753726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CSD438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6" name="Google Shape;86;p9">
            <a:extLst>
              <a:ext uri="{FF2B5EF4-FFF2-40B4-BE49-F238E27FC236}">
                <a16:creationId xmlns:a16="http://schemas.microsoft.com/office/drawing/2014/main" id="{EAAFE722-317F-DB18-ECCB-CB8F9E9650A9}"/>
              </a:ext>
            </a:extLst>
          </p:cNvPr>
          <p:cNvSpPr txBox="1"/>
          <p:nvPr/>
        </p:nvSpPr>
        <p:spPr>
          <a:xfrm>
            <a:off x="688528" y="403853"/>
            <a:ext cx="522985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MID TERM PROJECT REVIEW</a:t>
            </a:r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2" name="Google Shape;66;p8">
            <a:extLst>
              <a:ext uri="{FF2B5EF4-FFF2-40B4-BE49-F238E27FC236}">
                <a16:creationId xmlns:a16="http://schemas.microsoft.com/office/drawing/2014/main" id="{E4DF8358-25F6-7573-8B7B-91935C863728}"/>
              </a:ext>
            </a:extLst>
          </p:cNvPr>
          <p:cNvGrpSpPr/>
          <p:nvPr/>
        </p:nvGrpSpPr>
        <p:grpSpPr>
          <a:xfrm>
            <a:off x="881216" y="3036908"/>
            <a:ext cx="16555040" cy="6336577"/>
            <a:chOff x="0" y="-9525"/>
            <a:chExt cx="4274726" cy="1260348"/>
          </a:xfrm>
          <a:solidFill>
            <a:srgbClr val="F8EFE5"/>
          </a:solidFill>
        </p:grpSpPr>
        <p:sp>
          <p:nvSpPr>
            <p:cNvPr id="3" name="Google Shape;67;p8">
              <a:extLst>
                <a:ext uri="{FF2B5EF4-FFF2-40B4-BE49-F238E27FC236}">
                  <a16:creationId xmlns:a16="http://schemas.microsoft.com/office/drawing/2014/main" id="{268CD3FD-8709-F547-2FEE-D76AE22F9ADE}"/>
                </a:ext>
              </a:extLst>
            </p:cNvPr>
            <p:cNvSpPr/>
            <p:nvPr/>
          </p:nvSpPr>
          <p:spPr>
            <a:xfrm>
              <a:off x="0" y="0"/>
              <a:ext cx="4274726" cy="1250823"/>
            </a:xfrm>
            <a:custGeom>
              <a:avLst/>
              <a:gdLst/>
              <a:ahLst/>
              <a:cxnLst/>
              <a:rect l="l" t="t" r="r" b="b"/>
              <a:pathLst>
                <a:path w="4274726" h="1250823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0823"/>
                  </a:lnTo>
                  <a:lnTo>
                    <a:pt x="0" y="12508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Google Shape;68;p8">
              <a:extLst>
                <a:ext uri="{FF2B5EF4-FFF2-40B4-BE49-F238E27FC236}">
                  <a16:creationId xmlns:a16="http://schemas.microsoft.com/office/drawing/2014/main" id="{99A2F90B-94AC-BE0C-45EE-6D9F52AAD0E1}"/>
                </a:ext>
              </a:extLst>
            </p:cNvPr>
            <p:cNvSpPr txBox="1"/>
            <p:nvPr/>
          </p:nvSpPr>
          <p:spPr>
            <a:xfrm>
              <a:off x="0" y="-9525"/>
              <a:ext cx="4274726" cy="126034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8EFE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8A23868-3E57-338C-51C4-F995F5D8A0E2}"/>
              </a:ext>
            </a:extLst>
          </p:cNvPr>
          <p:cNvSpPr txBox="1"/>
          <p:nvPr/>
        </p:nvSpPr>
        <p:spPr>
          <a:xfrm>
            <a:off x="1370535" y="4745661"/>
            <a:ext cx="15576401" cy="2919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6. Heartbeats and Timeouts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Leader sends periodic </a:t>
            </a:r>
            <a:r>
              <a:rPr lang="en-US" sz="2100" b="1" i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heartbeats 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(empty </a:t>
            </a:r>
            <a:r>
              <a:rPr lang="en-US" sz="2100" b="1" i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AppendEntries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) to maintain authority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If followers stop receiving heartbeats → they trigger a new </a:t>
            </a:r>
            <a:r>
              <a:rPr lang="en-US" sz="2100" b="1" i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election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Randomized </a:t>
            </a:r>
            <a:r>
              <a:rPr lang="en-US" sz="2100" b="1" i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timeouts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 reduce risk of simultaneous elections</a:t>
            </a:r>
          </a:p>
        </p:txBody>
      </p:sp>
    </p:spTree>
    <p:extLst>
      <p:ext uri="{BB962C8B-B14F-4D97-AF65-F5344CB8AC3E}">
        <p14:creationId xmlns:p14="http://schemas.microsoft.com/office/powerpoint/2010/main" val="3936746128"/>
      </p:ext>
    </p:extLst>
  </p:cSld>
  <p:clrMapOvr>
    <a:masterClrMapping/>
  </p:clrMapOvr>
  <p:transition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278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0C3943C8-C92C-790C-EADB-E028C754D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>
            <a:extLst>
              <a:ext uri="{FF2B5EF4-FFF2-40B4-BE49-F238E27FC236}">
                <a16:creationId xmlns:a16="http://schemas.microsoft.com/office/drawing/2014/main" id="{633A5738-F296-7636-7F20-F1198065453A}"/>
              </a:ext>
            </a:extLst>
          </p:cNvPr>
          <p:cNvSpPr txBox="1"/>
          <p:nvPr/>
        </p:nvSpPr>
        <p:spPr>
          <a:xfrm>
            <a:off x="688528" y="1277182"/>
            <a:ext cx="1363215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i="0" u="none" strike="noStrike" cap="none" dirty="0">
                <a:solidFill>
                  <a:srgbClr val="F8EFE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RAFT: STEP BY STEP</a:t>
            </a:r>
            <a:endParaRPr lang="en-US" sz="8000" dirty="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" name="Google Shape;85;p9">
            <a:extLst>
              <a:ext uri="{FF2B5EF4-FFF2-40B4-BE49-F238E27FC236}">
                <a16:creationId xmlns:a16="http://schemas.microsoft.com/office/drawing/2014/main" id="{087C6F45-2D18-C120-0531-69C63D2F4E6C}"/>
              </a:ext>
            </a:extLst>
          </p:cNvPr>
          <p:cNvSpPr txBox="1"/>
          <p:nvPr/>
        </p:nvSpPr>
        <p:spPr>
          <a:xfrm>
            <a:off x="16682530" y="403013"/>
            <a:ext cx="753726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CSD438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6" name="Google Shape;86;p9">
            <a:extLst>
              <a:ext uri="{FF2B5EF4-FFF2-40B4-BE49-F238E27FC236}">
                <a16:creationId xmlns:a16="http://schemas.microsoft.com/office/drawing/2014/main" id="{18A33D7E-1A3A-52CF-F27F-67F655B2B63F}"/>
              </a:ext>
            </a:extLst>
          </p:cNvPr>
          <p:cNvSpPr txBox="1"/>
          <p:nvPr/>
        </p:nvSpPr>
        <p:spPr>
          <a:xfrm>
            <a:off x="688528" y="403853"/>
            <a:ext cx="522985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MID TERM PROJECT REVIEW</a:t>
            </a:r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2" name="Google Shape;66;p8">
            <a:extLst>
              <a:ext uri="{FF2B5EF4-FFF2-40B4-BE49-F238E27FC236}">
                <a16:creationId xmlns:a16="http://schemas.microsoft.com/office/drawing/2014/main" id="{3013A396-63E1-3B8D-E240-AED81FBCF301}"/>
              </a:ext>
            </a:extLst>
          </p:cNvPr>
          <p:cNvGrpSpPr/>
          <p:nvPr/>
        </p:nvGrpSpPr>
        <p:grpSpPr>
          <a:xfrm>
            <a:off x="881216" y="3036908"/>
            <a:ext cx="16555040" cy="6336577"/>
            <a:chOff x="0" y="-9525"/>
            <a:chExt cx="4274726" cy="1260348"/>
          </a:xfrm>
          <a:solidFill>
            <a:srgbClr val="F8EFE5"/>
          </a:solidFill>
        </p:grpSpPr>
        <p:sp>
          <p:nvSpPr>
            <p:cNvPr id="3" name="Google Shape;67;p8">
              <a:extLst>
                <a:ext uri="{FF2B5EF4-FFF2-40B4-BE49-F238E27FC236}">
                  <a16:creationId xmlns:a16="http://schemas.microsoft.com/office/drawing/2014/main" id="{45296FEF-2566-58AA-6BF7-05D3C32FBC4A}"/>
                </a:ext>
              </a:extLst>
            </p:cNvPr>
            <p:cNvSpPr/>
            <p:nvPr/>
          </p:nvSpPr>
          <p:spPr>
            <a:xfrm>
              <a:off x="0" y="0"/>
              <a:ext cx="4274726" cy="1250823"/>
            </a:xfrm>
            <a:custGeom>
              <a:avLst/>
              <a:gdLst/>
              <a:ahLst/>
              <a:cxnLst/>
              <a:rect l="l" t="t" r="r" b="b"/>
              <a:pathLst>
                <a:path w="4274726" h="1250823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0823"/>
                  </a:lnTo>
                  <a:lnTo>
                    <a:pt x="0" y="12508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Google Shape;68;p8">
              <a:extLst>
                <a:ext uri="{FF2B5EF4-FFF2-40B4-BE49-F238E27FC236}">
                  <a16:creationId xmlns:a16="http://schemas.microsoft.com/office/drawing/2014/main" id="{DA968C00-4AC0-381A-8C6A-98B456756615}"/>
                </a:ext>
              </a:extLst>
            </p:cNvPr>
            <p:cNvSpPr txBox="1"/>
            <p:nvPr/>
          </p:nvSpPr>
          <p:spPr>
            <a:xfrm>
              <a:off x="0" y="-9525"/>
              <a:ext cx="4274726" cy="126034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8EFE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DAABAC0-2CEE-25CD-B722-2736E4135C5D}"/>
              </a:ext>
            </a:extLst>
          </p:cNvPr>
          <p:cNvSpPr txBox="1"/>
          <p:nvPr/>
        </p:nvSpPr>
        <p:spPr>
          <a:xfrm>
            <a:off x="1370535" y="4745661"/>
            <a:ext cx="15576401" cy="2919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7. Safety and Recovery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Only entries replicated on a </a:t>
            </a:r>
            <a:r>
              <a:rPr lang="en-US" sz="2100" b="1" i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majority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 are considered committed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Persistent storage ensures state survives crashes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If a leader fails, a new leader is elected, preserving all committed entries</a:t>
            </a:r>
          </a:p>
        </p:txBody>
      </p:sp>
    </p:spTree>
    <p:extLst>
      <p:ext uri="{BB962C8B-B14F-4D97-AF65-F5344CB8AC3E}">
        <p14:creationId xmlns:p14="http://schemas.microsoft.com/office/powerpoint/2010/main" val="2683396083"/>
      </p:ext>
    </p:extLst>
  </p:cSld>
  <p:clrMapOvr>
    <a:masterClrMapping/>
  </p:clrMapOvr>
  <p:transition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FE5"/>
        </a:solidFill>
        <a:effectLst/>
      </p:bgPr>
    </p:bg>
    <p:spTree>
      <p:nvGrpSpPr>
        <p:cNvPr id="1" name="Shape 64">
          <a:extLst>
            <a:ext uri="{FF2B5EF4-FFF2-40B4-BE49-F238E27FC236}">
              <a16:creationId xmlns:a16="http://schemas.microsoft.com/office/drawing/2014/main" id="{A820B9BE-40B9-0BD4-A946-40E53EC16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8">
            <a:extLst>
              <a:ext uri="{FF2B5EF4-FFF2-40B4-BE49-F238E27FC236}">
                <a16:creationId xmlns:a16="http://schemas.microsoft.com/office/drawing/2014/main" id="{3A0A5265-3743-4DDF-5313-E73AE6FE1D63}"/>
              </a:ext>
            </a:extLst>
          </p:cNvPr>
          <p:cNvGrpSpPr/>
          <p:nvPr/>
        </p:nvGrpSpPr>
        <p:grpSpPr>
          <a:xfrm>
            <a:off x="1028701" y="1106129"/>
            <a:ext cx="10209900" cy="8518191"/>
            <a:chOff x="0" y="-9525"/>
            <a:chExt cx="4274726" cy="1260348"/>
          </a:xfrm>
        </p:grpSpPr>
        <p:sp>
          <p:nvSpPr>
            <p:cNvPr id="67" name="Google Shape;67;p8">
              <a:extLst>
                <a:ext uri="{FF2B5EF4-FFF2-40B4-BE49-F238E27FC236}">
                  <a16:creationId xmlns:a16="http://schemas.microsoft.com/office/drawing/2014/main" id="{FF4FBB5C-D886-47A1-B939-4C1BFC158DCF}"/>
                </a:ext>
              </a:extLst>
            </p:cNvPr>
            <p:cNvSpPr/>
            <p:nvPr/>
          </p:nvSpPr>
          <p:spPr>
            <a:xfrm>
              <a:off x="0" y="0"/>
              <a:ext cx="4274726" cy="1250823"/>
            </a:xfrm>
            <a:custGeom>
              <a:avLst/>
              <a:gdLst/>
              <a:ahLst/>
              <a:cxnLst/>
              <a:rect l="l" t="t" r="r" b="b"/>
              <a:pathLst>
                <a:path w="4274726" h="1250823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0823"/>
                  </a:lnTo>
                  <a:lnTo>
                    <a:pt x="0" y="1250823"/>
                  </a:lnTo>
                  <a:close/>
                </a:path>
              </a:pathLst>
            </a:custGeom>
            <a:solidFill>
              <a:srgbClr val="25327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Google Shape;68;p8">
              <a:extLst>
                <a:ext uri="{FF2B5EF4-FFF2-40B4-BE49-F238E27FC236}">
                  <a16:creationId xmlns:a16="http://schemas.microsoft.com/office/drawing/2014/main" id="{12433235-08A8-3907-C9F0-1B8C96366676}"/>
                </a:ext>
              </a:extLst>
            </p:cNvPr>
            <p:cNvSpPr txBox="1"/>
            <p:nvPr/>
          </p:nvSpPr>
          <p:spPr>
            <a:xfrm>
              <a:off x="0" y="-9525"/>
              <a:ext cx="4274726" cy="12603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Google Shape;59;p7">
            <a:extLst>
              <a:ext uri="{FF2B5EF4-FFF2-40B4-BE49-F238E27FC236}">
                <a16:creationId xmlns:a16="http://schemas.microsoft.com/office/drawing/2014/main" id="{BEA2FC37-7262-7798-4061-F8AC274C40A5}"/>
              </a:ext>
            </a:extLst>
          </p:cNvPr>
          <p:cNvSpPr txBox="1"/>
          <p:nvPr/>
        </p:nvSpPr>
        <p:spPr>
          <a:xfrm>
            <a:off x="16682530" y="403013"/>
            <a:ext cx="753726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rPr>
              <a:t>CSD</a:t>
            </a:r>
            <a:r>
              <a:rPr lang="en-US" sz="1200" b="1" i="0" u="none" strike="noStrike" cap="none" dirty="0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rPr>
              <a:t>438</a:t>
            </a:r>
            <a:endParaRPr dirty="0"/>
          </a:p>
        </p:txBody>
      </p:sp>
      <p:sp>
        <p:nvSpPr>
          <p:cNvPr id="5" name="Google Shape;60;p7">
            <a:extLst>
              <a:ext uri="{FF2B5EF4-FFF2-40B4-BE49-F238E27FC236}">
                <a16:creationId xmlns:a16="http://schemas.microsoft.com/office/drawing/2014/main" id="{0DB652BD-54EC-65C2-34BF-84E2B7B83126}"/>
              </a:ext>
            </a:extLst>
          </p:cNvPr>
          <p:cNvSpPr txBox="1"/>
          <p:nvPr/>
        </p:nvSpPr>
        <p:spPr>
          <a:xfrm>
            <a:off x="688528" y="403853"/>
            <a:ext cx="522985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253278"/>
                </a:solidFill>
                <a:latin typeface="Inter"/>
                <a:ea typeface="Inter"/>
                <a:sym typeface="Inter"/>
              </a:rPr>
              <a:t>MID TERM PROJECT REVIEW</a:t>
            </a:r>
            <a:endParaRPr dirty="0"/>
          </a:p>
        </p:txBody>
      </p:sp>
      <p:sp>
        <p:nvSpPr>
          <p:cNvPr id="2" name="Google Shape;69;p8">
            <a:extLst>
              <a:ext uri="{FF2B5EF4-FFF2-40B4-BE49-F238E27FC236}">
                <a16:creationId xmlns:a16="http://schemas.microsoft.com/office/drawing/2014/main" id="{8DCA4E78-E033-1BBC-B321-7CAF2BF7B758}"/>
              </a:ext>
            </a:extLst>
          </p:cNvPr>
          <p:cNvSpPr txBox="1"/>
          <p:nvPr/>
        </p:nvSpPr>
        <p:spPr>
          <a:xfrm>
            <a:off x="14427736" y="8146992"/>
            <a:ext cx="340108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dirty="0">
                <a:solidFill>
                  <a:srgbClr val="25327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ZAB</a:t>
            </a:r>
            <a:endParaRPr sz="9600" dirty="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" name="Google Shape;309;p19">
            <a:extLst>
              <a:ext uri="{FF2B5EF4-FFF2-40B4-BE49-F238E27FC236}">
                <a16:creationId xmlns:a16="http://schemas.microsoft.com/office/drawing/2014/main" id="{93033EBD-B670-E04D-1914-6057C3FE9857}"/>
              </a:ext>
            </a:extLst>
          </p:cNvPr>
          <p:cNvSpPr/>
          <p:nvPr/>
        </p:nvSpPr>
        <p:spPr>
          <a:xfrm>
            <a:off x="13460907" y="8512787"/>
            <a:ext cx="802637" cy="779288"/>
          </a:xfrm>
          <a:custGeom>
            <a:avLst/>
            <a:gdLst/>
            <a:ahLst/>
            <a:cxnLst/>
            <a:rect l="l" t="t" r="r" b="b"/>
            <a:pathLst>
              <a:path w="802637" h="779288" extrusionOk="0">
                <a:moveTo>
                  <a:pt x="0" y="0"/>
                </a:moveTo>
                <a:lnTo>
                  <a:pt x="802638" y="0"/>
                </a:lnTo>
                <a:lnTo>
                  <a:pt x="802638" y="779288"/>
                </a:lnTo>
                <a:lnTo>
                  <a:pt x="0" y="7792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C59A4F-A679-1EE2-3F2B-A6B16EA4B308}"/>
              </a:ext>
            </a:extLst>
          </p:cNvPr>
          <p:cNvSpPr txBox="1"/>
          <p:nvPr/>
        </p:nvSpPr>
        <p:spPr>
          <a:xfrm rot="10800000" flipV="1">
            <a:off x="1530143" y="2459139"/>
            <a:ext cx="9265675" cy="58121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Clr>
                <a:srgbClr val="F8EFE5"/>
              </a:buClr>
              <a:buFontTx/>
              <a:buChar char="-"/>
            </a:pPr>
            <a:r>
              <a:rPr lang="en-US" sz="2100" b="1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ZAB (ZooKeeper Atomic Broadcast)</a:t>
            </a:r>
            <a:r>
              <a:rPr lang="en-US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 ensures a consistent, totally ordered broadcast of updates across all ZooKeeper servers</a:t>
            </a:r>
          </a:p>
          <a:p>
            <a:pPr marL="342900" indent="-342900">
              <a:lnSpc>
                <a:spcPct val="200000"/>
              </a:lnSpc>
              <a:buClr>
                <a:srgbClr val="F8EFE5"/>
              </a:buClr>
              <a:buFontTx/>
              <a:buChar char="-"/>
            </a:pPr>
            <a:r>
              <a:rPr lang="en-US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Ensures all replicas apply the </a:t>
            </a:r>
            <a:r>
              <a:rPr lang="en-US" sz="2100" b="1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same sequence of state changes</a:t>
            </a:r>
            <a:r>
              <a:rPr lang="en-US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, even after crashes or restarts</a:t>
            </a:r>
          </a:p>
          <a:p>
            <a:pPr marL="342900" indent="-342900">
              <a:lnSpc>
                <a:spcPct val="200000"/>
              </a:lnSpc>
              <a:buClr>
                <a:srgbClr val="F8EFE5"/>
              </a:buClr>
              <a:buFontTx/>
              <a:buChar char="-"/>
            </a:pPr>
            <a:r>
              <a:rPr lang="en-US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Operates in two main modes:</a:t>
            </a:r>
          </a:p>
          <a:p>
            <a:pPr>
              <a:lnSpc>
                <a:spcPct val="200000"/>
              </a:lnSpc>
              <a:buClr>
                <a:srgbClr val="F8EFE5"/>
              </a:buClr>
            </a:pPr>
            <a:r>
              <a:rPr lang="en-US" sz="2100" b="1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	Recovery Phase:</a:t>
            </a:r>
            <a:r>
              <a:rPr lang="en-US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 elect leader and sync followers after failure</a:t>
            </a:r>
          </a:p>
          <a:p>
            <a:pPr>
              <a:lnSpc>
                <a:spcPct val="200000"/>
              </a:lnSpc>
              <a:buClr>
                <a:srgbClr val="F8EFE5"/>
              </a:buClr>
            </a:pPr>
            <a:r>
              <a:rPr lang="en-US" sz="2100" b="1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	Broadcast Phase:</a:t>
            </a:r>
            <a:r>
              <a:rPr lang="en-US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 leader commits updates in total 	order</a:t>
            </a:r>
          </a:p>
          <a:p>
            <a:pPr>
              <a:lnSpc>
                <a:spcPct val="200000"/>
              </a:lnSpc>
              <a:buClr>
                <a:srgbClr val="F8EFE5"/>
              </a:buClr>
            </a:pPr>
            <a:r>
              <a:rPr lang="en-US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Used by </a:t>
            </a:r>
            <a:r>
              <a:rPr lang="en-US" sz="2100" b="1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Apache ZooKeeper </a:t>
            </a:r>
            <a:r>
              <a:rPr lang="en-US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for maintaining consistent metadata and coordination in distributed systems</a:t>
            </a:r>
            <a:endParaRPr lang="en-IN" sz="2100" dirty="0">
              <a:solidFill>
                <a:srgbClr val="F8EFE5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3591BFE7-67A4-55EC-E573-8A713F27FF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559F9922-6A56-8423-24EA-19E4500EC6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 descr="A cartoon of a person in uniform holding a shovel&#10;&#10;AI-generated content may be incorrect.">
            <a:extLst>
              <a:ext uri="{FF2B5EF4-FFF2-40B4-BE49-F238E27FC236}">
                <a16:creationId xmlns:a16="http://schemas.microsoft.com/office/drawing/2014/main" id="{1E1AE0F4-0122-92BD-1262-1F4F4428E7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9456" y="2553774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675104"/>
      </p:ext>
    </p:extLst>
  </p:cSld>
  <p:clrMapOvr>
    <a:masterClrMapping/>
  </p:clrMapOvr>
  <p:transition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278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7E11B5D6-CB56-BB94-77EB-2FD55E8C6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>
            <a:extLst>
              <a:ext uri="{FF2B5EF4-FFF2-40B4-BE49-F238E27FC236}">
                <a16:creationId xmlns:a16="http://schemas.microsoft.com/office/drawing/2014/main" id="{72F9CE44-BB43-8D15-195A-7D44A67B5C6C}"/>
              </a:ext>
            </a:extLst>
          </p:cNvPr>
          <p:cNvSpPr txBox="1"/>
          <p:nvPr/>
        </p:nvSpPr>
        <p:spPr>
          <a:xfrm>
            <a:off x="688528" y="1277182"/>
            <a:ext cx="1363215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solidFill>
                  <a:srgbClr val="F8EFE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ZAB</a:t>
            </a:r>
            <a:r>
              <a:rPr lang="en-US" sz="8000" i="0" u="none" strike="noStrike" cap="none" dirty="0">
                <a:solidFill>
                  <a:srgbClr val="F8EFE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: STEP BY STEP</a:t>
            </a:r>
            <a:endParaRPr lang="en-US" sz="8000" dirty="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" name="Google Shape;85;p9">
            <a:extLst>
              <a:ext uri="{FF2B5EF4-FFF2-40B4-BE49-F238E27FC236}">
                <a16:creationId xmlns:a16="http://schemas.microsoft.com/office/drawing/2014/main" id="{6628A014-DFB6-016F-6372-B84F4F217C08}"/>
              </a:ext>
            </a:extLst>
          </p:cNvPr>
          <p:cNvSpPr txBox="1"/>
          <p:nvPr/>
        </p:nvSpPr>
        <p:spPr>
          <a:xfrm>
            <a:off x="16682530" y="403013"/>
            <a:ext cx="753726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CSD438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6" name="Google Shape;86;p9">
            <a:extLst>
              <a:ext uri="{FF2B5EF4-FFF2-40B4-BE49-F238E27FC236}">
                <a16:creationId xmlns:a16="http://schemas.microsoft.com/office/drawing/2014/main" id="{4355A731-F14E-F8F9-B4ED-E4366235C5D0}"/>
              </a:ext>
            </a:extLst>
          </p:cNvPr>
          <p:cNvSpPr txBox="1"/>
          <p:nvPr/>
        </p:nvSpPr>
        <p:spPr>
          <a:xfrm>
            <a:off x="688528" y="403853"/>
            <a:ext cx="522985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MID TERM PROJECT REVIEW</a:t>
            </a:r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2" name="Google Shape;66;p8">
            <a:extLst>
              <a:ext uri="{FF2B5EF4-FFF2-40B4-BE49-F238E27FC236}">
                <a16:creationId xmlns:a16="http://schemas.microsoft.com/office/drawing/2014/main" id="{1596EBF3-61A4-F148-196F-182CB9616980}"/>
              </a:ext>
            </a:extLst>
          </p:cNvPr>
          <p:cNvGrpSpPr/>
          <p:nvPr/>
        </p:nvGrpSpPr>
        <p:grpSpPr>
          <a:xfrm>
            <a:off x="881216" y="3036908"/>
            <a:ext cx="16555040" cy="6336577"/>
            <a:chOff x="0" y="-9525"/>
            <a:chExt cx="4274726" cy="1260348"/>
          </a:xfrm>
          <a:solidFill>
            <a:srgbClr val="F8EFE5"/>
          </a:solidFill>
        </p:grpSpPr>
        <p:sp>
          <p:nvSpPr>
            <p:cNvPr id="3" name="Google Shape;67;p8">
              <a:extLst>
                <a:ext uri="{FF2B5EF4-FFF2-40B4-BE49-F238E27FC236}">
                  <a16:creationId xmlns:a16="http://schemas.microsoft.com/office/drawing/2014/main" id="{FB8BDC92-8A33-A790-1F60-BCCD7CCD3976}"/>
                </a:ext>
              </a:extLst>
            </p:cNvPr>
            <p:cNvSpPr/>
            <p:nvPr/>
          </p:nvSpPr>
          <p:spPr>
            <a:xfrm>
              <a:off x="0" y="0"/>
              <a:ext cx="4274726" cy="1250823"/>
            </a:xfrm>
            <a:custGeom>
              <a:avLst/>
              <a:gdLst/>
              <a:ahLst/>
              <a:cxnLst/>
              <a:rect l="l" t="t" r="r" b="b"/>
              <a:pathLst>
                <a:path w="4274726" h="1250823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0823"/>
                  </a:lnTo>
                  <a:lnTo>
                    <a:pt x="0" y="12508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Google Shape;68;p8">
              <a:extLst>
                <a:ext uri="{FF2B5EF4-FFF2-40B4-BE49-F238E27FC236}">
                  <a16:creationId xmlns:a16="http://schemas.microsoft.com/office/drawing/2014/main" id="{A3720CC9-B0E4-1162-303A-1E99215C4323}"/>
                </a:ext>
              </a:extLst>
            </p:cNvPr>
            <p:cNvSpPr txBox="1"/>
            <p:nvPr/>
          </p:nvSpPr>
          <p:spPr>
            <a:xfrm>
              <a:off x="0" y="-9525"/>
              <a:ext cx="4274726" cy="126034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8EFE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8A0B69E-5B30-4028-7287-E4C3F76BD398}"/>
              </a:ext>
            </a:extLst>
          </p:cNvPr>
          <p:cNvSpPr txBox="1"/>
          <p:nvPr/>
        </p:nvSpPr>
        <p:spPr>
          <a:xfrm>
            <a:off x="1370535" y="4701417"/>
            <a:ext cx="15576401" cy="2919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1. Purpose and Role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ZAB ensures </a:t>
            </a:r>
            <a:r>
              <a:rPr lang="en-US" sz="21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total order broadcast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 of updates across a ZooKeeper ensemble.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Guarantees all servers deliver the </a:t>
            </a:r>
            <a:r>
              <a:rPr lang="en-US" sz="21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same sequence of transactions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, even after crashes or restarts.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Focuses on </a:t>
            </a:r>
            <a:r>
              <a:rPr lang="en-US" sz="21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broadcasting state changes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 reliably, not arbitrary commands.</a:t>
            </a:r>
          </a:p>
        </p:txBody>
      </p:sp>
    </p:spTree>
    <p:extLst>
      <p:ext uri="{BB962C8B-B14F-4D97-AF65-F5344CB8AC3E}">
        <p14:creationId xmlns:p14="http://schemas.microsoft.com/office/powerpoint/2010/main" val="1270490766"/>
      </p:ext>
    </p:extLst>
  </p:cSld>
  <p:clrMapOvr>
    <a:masterClrMapping/>
  </p:clrMapOvr>
  <p:transition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278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A94C524E-3BBC-DA98-431C-0A5E4C3F1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>
            <a:extLst>
              <a:ext uri="{FF2B5EF4-FFF2-40B4-BE49-F238E27FC236}">
                <a16:creationId xmlns:a16="http://schemas.microsoft.com/office/drawing/2014/main" id="{9652DBDA-AE68-9C94-530B-1B7F10ACD34E}"/>
              </a:ext>
            </a:extLst>
          </p:cNvPr>
          <p:cNvSpPr txBox="1"/>
          <p:nvPr/>
        </p:nvSpPr>
        <p:spPr>
          <a:xfrm>
            <a:off x="688528" y="1277182"/>
            <a:ext cx="1363215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solidFill>
                  <a:srgbClr val="F8EFE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ZAB</a:t>
            </a:r>
            <a:r>
              <a:rPr lang="en-US" sz="8000" i="0" u="none" strike="noStrike" cap="none" dirty="0">
                <a:solidFill>
                  <a:srgbClr val="F8EFE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: STEP BY STEP</a:t>
            </a:r>
            <a:endParaRPr lang="en-US" sz="8000" dirty="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" name="Google Shape;85;p9">
            <a:extLst>
              <a:ext uri="{FF2B5EF4-FFF2-40B4-BE49-F238E27FC236}">
                <a16:creationId xmlns:a16="http://schemas.microsoft.com/office/drawing/2014/main" id="{21805F03-E63E-D912-E032-35526BED1EDF}"/>
              </a:ext>
            </a:extLst>
          </p:cNvPr>
          <p:cNvSpPr txBox="1"/>
          <p:nvPr/>
        </p:nvSpPr>
        <p:spPr>
          <a:xfrm>
            <a:off x="16682530" y="403013"/>
            <a:ext cx="753726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CSD438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6" name="Google Shape;86;p9">
            <a:extLst>
              <a:ext uri="{FF2B5EF4-FFF2-40B4-BE49-F238E27FC236}">
                <a16:creationId xmlns:a16="http://schemas.microsoft.com/office/drawing/2014/main" id="{9B5A5DCE-5563-E200-D7E5-19F758BEF7E7}"/>
              </a:ext>
            </a:extLst>
          </p:cNvPr>
          <p:cNvSpPr txBox="1"/>
          <p:nvPr/>
        </p:nvSpPr>
        <p:spPr>
          <a:xfrm>
            <a:off x="688528" y="403853"/>
            <a:ext cx="522985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MID TERM PROJECT REVIEW</a:t>
            </a:r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2" name="Google Shape;66;p8">
            <a:extLst>
              <a:ext uri="{FF2B5EF4-FFF2-40B4-BE49-F238E27FC236}">
                <a16:creationId xmlns:a16="http://schemas.microsoft.com/office/drawing/2014/main" id="{6E91E0E8-662B-772E-30C2-648C7B0A950F}"/>
              </a:ext>
            </a:extLst>
          </p:cNvPr>
          <p:cNvGrpSpPr/>
          <p:nvPr/>
        </p:nvGrpSpPr>
        <p:grpSpPr>
          <a:xfrm>
            <a:off x="881216" y="3036908"/>
            <a:ext cx="16555040" cy="6336577"/>
            <a:chOff x="0" y="-9525"/>
            <a:chExt cx="4274726" cy="1260348"/>
          </a:xfrm>
          <a:solidFill>
            <a:srgbClr val="F8EFE5"/>
          </a:solidFill>
        </p:grpSpPr>
        <p:sp>
          <p:nvSpPr>
            <p:cNvPr id="3" name="Google Shape;67;p8">
              <a:extLst>
                <a:ext uri="{FF2B5EF4-FFF2-40B4-BE49-F238E27FC236}">
                  <a16:creationId xmlns:a16="http://schemas.microsoft.com/office/drawing/2014/main" id="{2687CE4E-26F0-6093-AF2E-1AEE866A067C}"/>
                </a:ext>
              </a:extLst>
            </p:cNvPr>
            <p:cNvSpPr/>
            <p:nvPr/>
          </p:nvSpPr>
          <p:spPr>
            <a:xfrm>
              <a:off x="0" y="0"/>
              <a:ext cx="4274726" cy="1250823"/>
            </a:xfrm>
            <a:custGeom>
              <a:avLst/>
              <a:gdLst/>
              <a:ahLst/>
              <a:cxnLst/>
              <a:rect l="l" t="t" r="r" b="b"/>
              <a:pathLst>
                <a:path w="4274726" h="1250823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0823"/>
                  </a:lnTo>
                  <a:lnTo>
                    <a:pt x="0" y="12508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Google Shape;68;p8">
              <a:extLst>
                <a:ext uri="{FF2B5EF4-FFF2-40B4-BE49-F238E27FC236}">
                  <a16:creationId xmlns:a16="http://schemas.microsoft.com/office/drawing/2014/main" id="{389D8452-7AB1-60DE-D346-8BDFF6E79EF7}"/>
                </a:ext>
              </a:extLst>
            </p:cNvPr>
            <p:cNvSpPr txBox="1"/>
            <p:nvPr/>
          </p:nvSpPr>
          <p:spPr>
            <a:xfrm>
              <a:off x="0" y="-9525"/>
              <a:ext cx="4274726" cy="126034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8EFE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09C5DEB-C734-ABEF-639A-59FC5EBECB54}"/>
              </a:ext>
            </a:extLst>
          </p:cNvPr>
          <p:cNvSpPr txBox="1"/>
          <p:nvPr/>
        </p:nvSpPr>
        <p:spPr>
          <a:xfrm>
            <a:off x="1370535" y="4745661"/>
            <a:ext cx="15576401" cy="2919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2. System Model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One </a:t>
            </a:r>
            <a:r>
              <a:rPr lang="en-US" sz="21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Leader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, multiple </a:t>
            </a:r>
            <a:r>
              <a:rPr lang="en-US" sz="21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Followers (and Observers)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Leader handles all </a:t>
            </a:r>
            <a:r>
              <a:rPr lang="en-US" sz="21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write requests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; followers serve </a:t>
            </a:r>
            <a:r>
              <a:rPr lang="en-US" sz="21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read requests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.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Uses </a:t>
            </a:r>
            <a:r>
              <a:rPr lang="en-US" sz="21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epochs (or “Zxid” prefixes)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 to order operations uniquely</a:t>
            </a:r>
          </a:p>
        </p:txBody>
      </p:sp>
    </p:spTree>
    <p:extLst>
      <p:ext uri="{BB962C8B-B14F-4D97-AF65-F5344CB8AC3E}">
        <p14:creationId xmlns:p14="http://schemas.microsoft.com/office/powerpoint/2010/main" val="1208650485"/>
      </p:ext>
    </p:extLst>
  </p:cSld>
  <p:clrMapOvr>
    <a:masterClrMapping/>
  </p:clrMapOvr>
  <p:transition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278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1349A971-172A-90D8-C9F2-81510D741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>
            <a:extLst>
              <a:ext uri="{FF2B5EF4-FFF2-40B4-BE49-F238E27FC236}">
                <a16:creationId xmlns:a16="http://schemas.microsoft.com/office/drawing/2014/main" id="{F2860D47-B6A4-3BDE-66FD-3D297C780467}"/>
              </a:ext>
            </a:extLst>
          </p:cNvPr>
          <p:cNvSpPr txBox="1"/>
          <p:nvPr/>
        </p:nvSpPr>
        <p:spPr>
          <a:xfrm>
            <a:off x="688528" y="1277182"/>
            <a:ext cx="1363215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solidFill>
                  <a:srgbClr val="F8EFE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ZAB</a:t>
            </a:r>
            <a:r>
              <a:rPr lang="en-US" sz="8000" i="0" u="none" strike="noStrike" cap="none" dirty="0">
                <a:solidFill>
                  <a:srgbClr val="F8EFE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: STEP BY STEP</a:t>
            </a:r>
            <a:endParaRPr lang="en-US" sz="8000" dirty="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" name="Google Shape;85;p9">
            <a:extLst>
              <a:ext uri="{FF2B5EF4-FFF2-40B4-BE49-F238E27FC236}">
                <a16:creationId xmlns:a16="http://schemas.microsoft.com/office/drawing/2014/main" id="{F542F1FB-39AD-3799-330E-DE0A20D6CA5F}"/>
              </a:ext>
            </a:extLst>
          </p:cNvPr>
          <p:cNvSpPr txBox="1"/>
          <p:nvPr/>
        </p:nvSpPr>
        <p:spPr>
          <a:xfrm>
            <a:off x="16682530" y="403013"/>
            <a:ext cx="753726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CSD438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6" name="Google Shape;86;p9">
            <a:extLst>
              <a:ext uri="{FF2B5EF4-FFF2-40B4-BE49-F238E27FC236}">
                <a16:creationId xmlns:a16="http://schemas.microsoft.com/office/drawing/2014/main" id="{13EADB66-4F97-2A6C-3EF1-7C5B8B97BDFB}"/>
              </a:ext>
            </a:extLst>
          </p:cNvPr>
          <p:cNvSpPr txBox="1"/>
          <p:nvPr/>
        </p:nvSpPr>
        <p:spPr>
          <a:xfrm>
            <a:off x="688528" y="403853"/>
            <a:ext cx="522985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MID TERM PROJECT REVIEW</a:t>
            </a:r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2" name="Google Shape;66;p8">
            <a:extLst>
              <a:ext uri="{FF2B5EF4-FFF2-40B4-BE49-F238E27FC236}">
                <a16:creationId xmlns:a16="http://schemas.microsoft.com/office/drawing/2014/main" id="{209C18B8-01F2-2072-4EA9-57C1B090DEEE}"/>
              </a:ext>
            </a:extLst>
          </p:cNvPr>
          <p:cNvGrpSpPr/>
          <p:nvPr/>
        </p:nvGrpSpPr>
        <p:grpSpPr>
          <a:xfrm>
            <a:off x="881216" y="3036908"/>
            <a:ext cx="16555040" cy="6336577"/>
            <a:chOff x="0" y="-9525"/>
            <a:chExt cx="4274726" cy="1260348"/>
          </a:xfrm>
          <a:solidFill>
            <a:srgbClr val="F8EFE5"/>
          </a:solidFill>
        </p:grpSpPr>
        <p:sp>
          <p:nvSpPr>
            <p:cNvPr id="3" name="Google Shape;67;p8">
              <a:extLst>
                <a:ext uri="{FF2B5EF4-FFF2-40B4-BE49-F238E27FC236}">
                  <a16:creationId xmlns:a16="http://schemas.microsoft.com/office/drawing/2014/main" id="{1522ED85-2FE0-0513-9722-255FBCBF05C5}"/>
                </a:ext>
              </a:extLst>
            </p:cNvPr>
            <p:cNvSpPr/>
            <p:nvPr/>
          </p:nvSpPr>
          <p:spPr>
            <a:xfrm>
              <a:off x="0" y="0"/>
              <a:ext cx="4274726" cy="1250823"/>
            </a:xfrm>
            <a:custGeom>
              <a:avLst/>
              <a:gdLst/>
              <a:ahLst/>
              <a:cxnLst/>
              <a:rect l="l" t="t" r="r" b="b"/>
              <a:pathLst>
                <a:path w="4274726" h="1250823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0823"/>
                  </a:lnTo>
                  <a:lnTo>
                    <a:pt x="0" y="12508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Google Shape;68;p8">
              <a:extLst>
                <a:ext uri="{FF2B5EF4-FFF2-40B4-BE49-F238E27FC236}">
                  <a16:creationId xmlns:a16="http://schemas.microsoft.com/office/drawing/2014/main" id="{0C3CDCA8-40D2-DC37-4698-BDDAC6DB8947}"/>
                </a:ext>
              </a:extLst>
            </p:cNvPr>
            <p:cNvSpPr txBox="1"/>
            <p:nvPr/>
          </p:nvSpPr>
          <p:spPr>
            <a:xfrm>
              <a:off x="0" y="-9525"/>
              <a:ext cx="4274726" cy="126034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8EFE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90DFC4C-C829-F79C-0FFF-80B74F61F37B}"/>
              </a:ext>
            </a:extLst>
          </p:cNvPr>
          <p:cNvSpPr txBox="1"/>
          <p:nvPr/>
        </p:nvSpPr>
        <p:spPr>
          <a:xfrm>
            <a:off x="1370535" y="4745661"/>
            <a:ext cx="15576401" cy="227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3. Protocol Phases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Recovery Phase: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 establish a new leader and synchronize state after a failure.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Broadcast Phase: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 normal operation — broadcast and deliver updates in order.</a:t>
            </a:r>
          </a:p>
        </p:txBody>
      </p:sp>
    </p:spTree>
    <p:extLst>
      <p:ext uri="{BB962C8B-B14F-4D97-AF65-F5344CB8AC3E}">
        <p14:creationId xmlns:p14="http://schemas.microsoft.com/office/powerpoint/2010/main" val="178922006"/>
      </p:ext>
    </p:extLst>
  </p:cSld>
  <p:clrMapOvr>
    <a:masterClrMapping/>
  </p:clrMapOvr>
  <p:transition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278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553567B0-A642-9F01-5E96-5D18D1080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>
            <a:extLst>
              <a:ext uri="{FF2B5EF4-FFF2-40B4-BE49-F238E27FC236}">
                <a16:creationId xmlns:a16="http://schemas.microsoft.com/office/drawing/2014/main" id="{242BCEA2-8EE0-F8F3-7479-87431EBEB7A2}"/>
              </a:ext>
            </a:extLst>
          </p:cNvPr>
          <p:cNvSpPr txBox="1"/>
          <p:nvPr/>
        </p:nvSpPr>
        <p:spPr>
          <a:xfrm>
            <a:off x="688528" y="1277182"/>
            <a:ext cx="1363215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solidFill>
                  <a:srgbClr val="F8EFE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ZAB</a:t>
            </a:r>
            <a:r>
              <a:rPr lang="en-US" sz="8000" i="0" u="none" strike="noStrike" cap="none" dirty="0">
                <a:solidFill>
                  <a:srgbClr val="F8EFE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: STEP BY STEP</a:t>
            </a:r>
            <a:endParaRPr lang="en-US" sz="8000" dirty="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" name="Google Shape;85;p9">
            <a:extLst>
              <a:ext uri="{FF2B5EF4-FFF2-40B4-BE49-F238E27FC236}">
                <a16:creationId xmlns:a16="http://schemas.microsoft.com/office/drawing/2014/main" id="{D95CA091-668D-D9CD-CA41-A243E4ED61F5}"/>
              </a:ext>
            </a:extLst>
          </p:cNvPr>
          <p:cNvSpPr txBox="1"/>
          <p:nvPr/>
        </p:nvSpPr>
        <p:spPr>
          <a:xfrm>
            <a:off x="16682530" y="403013"/>
            <a:ext cx="753726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CSD438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6" name="Google Shape;86;p9">
            <a:extLst>
              <a:ext uri="{FF2B5EF4-FFF2-40B4-BE49-F238E27FC236}">
                <a16:creationId xmlns:a16="http://schemas.microsoft.com/office/drawing/2014/main" id="{0D671B5D-5311-9E44-1F4D-2F12BDCB61AB}"/>
              </a:ext>
            </a:extLst>
          </p:cNvPr>
          <p:cNvSpPr txBox="1"/>
          <p:nvPr/>
        </p:nvSpPr>
        <p:spPr>
          <a:xfrm>
            <a:off x="688528" y="403853"/>
            <a:ext cx="522985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MID TERM PROJECT REVIEW</a:t>
            </a:r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2" name="Google Shape;66;p8">
            <a:extLst>
              <a:ext uri="{FF2B5EF4-FFF2-40B4-BE49-F238E27FC236}">
                <a16:creationId xmlns:a16="http://schemas.microsoft.com/office/drawing/2014/main" id="{4C42D9E3-71AF-E6FE-D6DC-2F1105182475}"/>
              </a:ext>
            </a:extLst>
          </p:cNvPr>
          <p:cNvGrpSpPr/>
          <p:nvPr/>
        </p:nvGrpSpPr>
        <p:grpSpPr>
          <a:xfrm>
            <a:off x="881216" y="3036908"/>
            <a:ext cx="16555040" cy="6336577"/>
            <a:chOff x="0" y="-9525"/>
            <a:chExt cx="4274726" cy="1260348"/>
          </a:xfrm>
          <a:solidFill>
            <a:srgbClr val="F8EFE5"/>
          </a:solidFill>
        </p:grpSpPr>
        <p:sp>
          <p:nvSpPr>
            <p:cNvPr id="3" name="Google Shape;67;p8">
              <a:extLst>
                <a:ext uri="{FF2B5EF4-FFF2-40B4-BE49-F238E27FC236}">
                  <a16:creationId xmlns:a16="http://schemas.microsoft.com/office/drawing/2014/main" id="{7A4FF83E-6805-E5EE-8E59-9690B5C565AF}"/>
                </a:ext>
              </a:extLst>
            </p:cNvPr>
            <p:cNvSpPr/>
            <p:nvPr/>
          </p:nvSpPr>
          <p:spPr>
            <a:xfrm>
              <a:off x="0" y="0"/>
              <a:ext cx="4274726" cy="1250823"/>
            </a:xfrm>
            <a:custGeom>
              <a:avLst/>
              <a:gdLst/>
              <a:ahLst/>
              <a:cxnLst/>
              <a:rect l="l" t="t" r="r" b="b"/>
              <a:pathLst>
                <a:path w="4274726" h="1250823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0823"/>
                  </a:lnTo>
                  <a:lnTo>
                    <a:pt x="0" y="12508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Google Shape;68;p8">
              <a:extLst>
                <a:ext uri="{FF2B5EF4-FFF2-40B4-BE49-F238E27FC236}">
                  <a16:creationId xmlns:a16="http://schemas.microsoft.com/office/drawing/2014/main" id="{8F31F3AF-4E91-3920-87A7-543C5D7ADFB2}"/>
                </a:ext>
              </a:extLst>
            </p:cNvPr>
            <p:cNvSpPr txBox="1"/>
            <p:nvPr/>
          </p:nvSpPr>
          <p:spPr>
            <a:xfrm>
              <a:off x="0" y="-9525"/>
              <a:ext cx="4274726" cy="126034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8EFE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C385D31-22BB-4552-E2F9-A448236BC8A6}"/>
              </a:ext>
            </a:extLst>
          </p:cNvPr>
          <p:cNvSpPr txBox="1"/>
          <p:nvPr/>
        </p:nvSpPr>
        <p:spPr>
          <a:xfrm>
            <a:off x="1370535" y="4745661"/>
            <a:ext cx="15576401" cy="2919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4. Broadcast Phase (Atomic Broadcast)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Only entries replicated on a </a:t>
            </a:r>
            <a:r>
              <a:rPr lang="en-US" sz="2100" b="1" i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majority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 are considered committed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Persistent storage ensures state survives crashes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If a leader fails, a new leader is elected, preserving all committed entries</a:t>
            </a:r>
          </a:p>
        </p:txBody>
      </p:sp>
    </p:spTree>
    <p:extLst>
      <p:ext uri="{BB962C8B-B14F-4D97-AF65-F5344CB8AC3E}">
        <p14:creationId xmlns:p14="http://schemas.microsoft.com/office/powerpoint/2010/main" val="2272160591"/>
      </p:ext>
    </p:extLst>
  </p:cSld>
  <p:clrMapOvr>
    <a:masterClrMapping/>
  </p:clrMapOvr>
  <p:transition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278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68915B3B-45A7-A8C5-ABF2-C088B9635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>
            <a:extLst>
              <a:ext uri="{FF2B5EF4-FFF2-40B4-BE49-F238E27FC236}">
                <a16:creationId xmlns:a16="http://schemas.microsoft.com/office/drawing/2014/main" id="{630BE2DA-77E2-5353-1B20-8B03CD84ED37}"/>
              </a:ext>
            </a:extLst>
          </p:cNvPr>
          <p:cNvSpPr txBox="1"/>
          <p:nvPr/>
        </p:nvSpPr>
        <p:spPr>
          <a:xfrm>
            <a:off x="688528" y="1277182"/>
            <a:ext cx="1363215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solidFill>
                  <a:srgbClr val="F8EFE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ZAB</a:t>
            </a:r>
            <a:r>
              <a:rPr lang="en-US" sz="8000" i="0" u="none" strike="noStrike" cap="none" dirty="0">
                <a:solidFill>
                  <a:srgbClr val="F8EFE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: STEP BY STEP</a:t>
            </a:r>
            <a:endParaRPr lang="en-US" sz="8000" dirty="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" name="Google Shape;85;p9">
            <a:extLst>
              <a:ext uri="{FF2B5EF4-FFF2-40B4-BE49-F238E27FC236}">
                <a16:creationId xmlns:a16="http://schemas.microsoft.com/office/drawing/2014/main" id="{F71DD9AE-BF09-D60F-5CD3-9C5E596B106D}"/>
              </a:ext>
            </a:extLst>
          </p:cNvPr>
          <p:cNvSpPr txBox="1"/>
          <p:nvPr/>
        </p:nvSpPr>
        <p:spPr>
          <a:xfrm>
            <a:off x="16682530" y="403013"/>
            <a:ext cx="753726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CSD438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6" name="Google Shape;86;p9">
            <a:extLst>
              <a:ext uri="{FF2B5EF4-FFF2-40B4-BE49-F238E27FC236}">
                <a16:creationId xmlns:a16="http://schemas.microsoft.com/office/drawing/2014/main" id="{CE9F8682-6866-4974-2D3D-52CAB9858078}"/>
              </a:ext>
            </a:extLst>
          </p:cNvPr>
          <p:cNvSpPr txBox="1"/>
          <p:nvPr/>
        </p:nvSpPr>
        <p:spPr>
          <a:xfrm>
            <a:off x="688528" y="403853"/>
            <a:ext cx="522985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MID TERM PROJECT REVIEW</a:t>
            </a:r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2" name="Google Shape;66;p8">
            <a:extLst>
              <a:ext uri="{FF2B5EF4-FFF2-40B4-BE49-F238E27FC236}">
                <a16:creationId xmlns:a16="http://schemas.microsoft.com/office/drawing/2014/main" id="{E50F47C2-7E65-BB16-39DA-4229A24744D8}"/>
              </a:ext>
            </a:extLst>
          </p:cNvPr>
          <p:cNvGrpSpPr/>
          <p:nvPr/>
        </p:nvGrpSpPr>
        <p:grpSpPr>
          <a:xfrm>
            <a:off x="881216" y="3036908"/>
            <a:ext cx="16555040" cy="6336577"/>
            <a:chOff x="0" y="-9525"/>
            <a:chExt cx="4274726" cy="1260348"/>
          </a:xfrm>
          <a:solidFill>
            <a:srgbClr val="F8EFE5"/>
          </a:solidFill>
        </p:grpSpPr>
        <p:sp>
          <p:nvSpPr>
            <p:cNvPr id="3" name="Google Shape;67;p8">
              <a:extLst>
                <a:ext uri="{FF2B5EF4-FFF2-40B4-BE49-F238E27FC236}">
                  <a16:creationId xmlns:a16="http://schemas.microsoft.com/office/drawing/2014/main" id="{781DA46A-7901-9B93-2541-CE2D8000A4AF}"/>
                </a:ext>
              </a:extLst>
            </p:cNvPr>
            <p:cNvSpPr/>
            <p:nvPr/>
          </p:nvSpPr>
          <p:spPr>
            <a:xfrm>
              <a:off x="0" y="0"/>
              <a:ext cx="4274726" cy="1250823"/>
            </a:xfrm>
            <a:custGeom>
              <a:avLst/>
              <a:gdLst/>
              <a:ahLst/>
              <a:cxnLst/>
              <a:rect l="l" t="t" r="r" b="b"/>
              <a:pathLst>
                <a:path w="4274726" h="1250823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0823"/>
                  </a:lnTo>
                  <a:lnTo>
                    <a:pt x="0" y="12508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Google Shape;68;p8">
              <a:extLst>
                <a:ext uri="{FF2B5EF4-FFF2-40B4-BE49-F238E27FC236}">
                  <a16:creationId xmlns:a16="http://schemas.microsoft.com/office/drawing/2014/main" id="{7A2BA55E-6EB6-FC57-9D42-0760D04E46CE}"/>
                </a:ext>
              </a:extLst>
            </p:cNvPr>
            <p:cNvSpPr txBox="1"/>
            <p:nvPr/>
          </p:nvSpPr>
          <p:spPr>
            <a:xfrm>
              <a:off x="0" y="-9525"/>
              <a:ext cx="4274726" cy="126034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8EFE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867B1A9-D637-9B25-43E3-833299D91A59}"/>
              </a:ext>
            </a:extLst>
          </p:cNvPr>
          <p:cNvSpPr txBox="1"/>
          <p:nvPr/>
        </p:nvSpPr>
        <p:spPr>
          <a:xfrm>
            <a:off x="1370535" y="4745661"/>
            <a:ext cx="15576401" cy="485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5. Recovery Phase (Leader Election &amp; Synchronization)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Followers detect leader failure (via heartbeat timeout).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Enter *election mode* and vote for a new leader (based on latest history).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Once a leader is chosen:</a:t>
            </a:r>
          </a:p>
          <a:p>
            <a:pPr lvl="2">
              <a:lnSpc>
                <a:spcPct val="200000"/>
              </a:lnSpc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	-  Leader starts a new epoch and collects followers’ last Zxids to find the latest state.</a:t>
            </a:r>
          </a:p>
          <a:p>
            <a:pPr lvl="2">
              <a:lnSpc>
                <a:spcPct val="200000"/>
              </a:lnSpc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	-  Leader broadcasts a NEWLEADER message and becomes active after majority acknowledgment.</a:t>
            </a:r>
          </a:p>
          <a:p>
            <a:pPr lvl="2">
              <a:lnSpc>
                <a:spcPct val="200000"/>
              </a:lnSpc>
            </a:pPr>
            <a:endParaRPr lang="en-US" sz="2100" dirty="0">
              <a:solidFill>
                <a:srgbClr val="253278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15510"/>
      </p:ext>
    </p:extLst>
  </p:cSld>
  <p:clrMapOvr>
    <a:masterClrMapping/>
  </p:clrMapOvr>
  <p:transition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278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5D28A5B3-5AF0-AFC4-35FF-054F2FEE9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>
            <a:extLst>
              <a:ext uri="{FF2B5EF4-FFF2-40B4-BE49-F238E27FC236}">
                <a16:creationId xmlns:a16="http://schemas.microsoft.com/office/drawing/2014/main" id="{ACF273ED-54E4-E8F5-4911-182261C03AA4}"/>
              </a:ext>
            </a:extLst>
          </p:cNvPr>
          <p:cNvSpPr txBox="1"/>
          <p:nvPr/>
        </p:nvSpPr>
        <p:spPr>
          <a:xfrm>
            <a:off x="688528" y="1277182"/>
            <a:ext cx="1363215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solidFill>
                  <a:srgbClr val="F8EFE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ZAB</a:t>
            </a:r>
            <a:r>
              <a:rPr lang="en-US" sz="8000" i="0" u="none" strike="noStrike" cap="none" dirty="0">
                <a:solidFill>
                  <a:srgbClr val="F8EFE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: STEP BY STEP</a:t>
            </a:r>
            <a:endParaRPr lang="en-US" sz="8000" dirty="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" name="Google Shape;85;p9">
            <a:extLst>
              <a:ext uri="{FF2B5EF4-FFF2-40B4-BE49-F238E27FC236}">
                <a16:creationId xmlns:a16="http://schemas.microsoft.com/office/drawing/2014/main" id="{77CB4B84-845D-AB75-CB08-F4AF6F29C499}"/>
              </a:ext>
            </a:extLst>
          </p:cNvPr>
          <p:cNvSpPr txBox="1"/>
          <p:nvPr/>
        </p:nvSpPr>
        <p:spPr>
          <a:xfrm>
            <a:off x="16682530" y="403013"/>
            <a:ext cx="753726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CSD438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6" name="Google Shape;86;p9">
            <a:extLst>
              <a:ext uri="{FF2B5EF4-FFF2-40B4-BE49-F238E27FC236}">
                <a16:creationId xmlns:a16="http://schemas.microsoft.com/office/drawing/2014/main" id="{D6FAC277-3E1C-F93E-2035-56E77063F435}"/>
              </a:ext>
            </a:extLst>
          </p:cNvPr>
          <p:cNvSpPr txBox="1"/>
          <p:nvPr/>
        </p:nvSpPr>
        <p:spPr>
          <a:xfrm>
            <a:off x="688528" y="403853"/>
            <a:ext cx="522985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MID TERM PROJECT REVIEW</a:t>
            </a:r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2" name="Google Shape;66;p8">
            <a:extLst>
              <a:ext uri="{FF2B5EF4-FFF2-40B4-BE49-F238E27FC236}">
                <a16:creationId xmlns:a16="http://schemas.microsoft.com/office/drawing/2014/main" id="{AB57482E-BFBE-81BF-22E5-094C219BF243}"/>
              </a:ext>
            </a:extLst>
          </p:cNvPr>
          <p:cNvGrpSpPr/>
          <p:nvPr/>
        </p:nvGrpSpPr>
        <p:grpSpPr>
          <a:xfrm>
            <a:off x="881216" y="3036908"/>
            <a:ext cx="16555040" cy="6336577"/>
            <a:chOff x="0" y="-9525"/>
            <a:chExt cx="4274726" cy="1260348"/>
          </a:xfrm>
          <a:solidFill>
            <a:srgbClr val="F8EFE5"/>
          </a:solidFill>
        </p:grpSpPr>
        <p:sp>
          <p:nvSpPr>
            <p:cNvPr id="3" name="Google Shape;67;p8">
              <a:extLst>
                <a:ext uri="{FF2B5EF4-FFF2-40B4-BE49-F238E27FC236}">
                  <a16:creationId xmlns:a16="http://schemas.microsoft.com/office/drawing/2014/main" id="{78577B46-1A63-7B01-05A2-69876E882DF1}"/>
                </a:ext>
              </a:extLst>
            </p:cNvPr>
            <p:cNvSpPr/>
            <p:nvPr/>
          </p:nvSpPr>
          <p:spPr>
            <a:xfrm>
              <a:off x="0" y="0"/>
              <a:ext cx="4274726" cy="1250823"/>
            </a:xfrm>
            <a:custGeom>
              <a:avLst/>
              <a:gdLst/>
              <a:ahLst/>
              <a:cxnLst/>
              <a:rect l="l" t="t" r="r" b="b"/>
              <a:pathLst>
                <a:path w="4274726" h="1250823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0823"/>
                  </a:lnTo>
                  <a:lnTo>
                    <a:pt x="0" y="12508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Google Shape;68;p8">
              <a:extLst>
                <a:ext uri="{FF2B5EF4-FFF2-40B4-BE49-F238E27FC236}">
                  <a16:creationId xmlns:a16="http://schemas.microsoft.com/office/drawing/2014/main" id="{BA502EC4-967D-BAA7-EBC7-DACAF18EDC4D}"/>
                </a:ext>
              </a:extLst>
            </p:cNvPr>
            <p:cNvSpPr txBox="1"/>
            <p:nvPr/>
          </p:nvSpPr>
          <p:spPr>
            <a:xfrm>
              <a:off x="0" y="-9525"/>
              <a:ext cx="4274726" cy="126034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8EFE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8ED8135-1DF2-8DE2-A76E-8BFA0036082C}"/>
              </a:ext>
            </a:extLst>
          </p:cNvPr>
          <p:cNvSpPr txBox="1"/>
          <p:nvPr/>
        </p:nvSpPr>
        <p:spPr>
          <a:xfrm>
            <a:off x="1370535" y="4745661"/>
            <a:ext cx="15576401" cy="2919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6. Consistency and Guarantees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Total order: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 All servers deliver transactions in the same sequence.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Prefix consistency: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 No server ever commits an unacknowledged transaction.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Leader stability: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 A leader never commits a transaction from a previous epoch.</a:t>
            </a:r>
          </a:p>
        </p:txBody>
      </p:sp>
    </p:spTree>
    <p:extLst>
      <p:ext uri="{BB962C8B-B14F-4D97-AF65-F5344CB8AC3E}">
        <p14:creationId xmlns:p14="http://schemas.microsoft.com/office/powerpoint/2010/main" val="3968810619"/>
      </p:ext>
    </p:extLst>
  </p:cSld>
  <p:clrMapOvr>
    <a:masterClrMapping/>
  </p:clrMapOvr>
  <p:transition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278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32DB617B-0442-867D-D4F7-B3B1C1CE5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>
            <a:extLst>
              <a:ext uri="{FF2B5EF4-FFF2-40B4-BE49-F238E27FC236}">
                <a16:creationId xmlns:a16="http://schemas.microsoft.com/office/drawing/2014/main" id="{956D5032-FC1C-ADCC-7EB7-AB10891260C1}"/>
              </a:ext>
            </a:extLst>
          </p:cNvPr>
          <p:cNvSpPr txBox="1"/>
          <p:nvPr/>
        </p:nvSpPr>
        <p:spPr>
          <a:xfrm>
            <a:off x="688528" y="1277182"/>
            <a:ext cx="1363215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solidFill>
                  <a:srgbClr val="F8EFE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ZAB</a:t>
            </a:r>
            <a:r>
              <a:rPr lang="en-US" sz="8000" i="0" u="none" strike="noStrike" cap="none" dirty="0">
                <a:solidFill>
                  <a:srgbClr val="F8EFE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: STEP BY STEP</a:t>
            </a:r>
            <a:endParaRPr lang="en-US" sz="8000" dirty="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" name="Google Shape;85;p9">
            <a:extLst>
              <a:ext uri="{FF2B5EF4-FFF2-40B4-BE49-F238E27FC236}">
                <a16:creationId xmlns:a16="http://schemas.microsoft.com/office/drawing/2014/main" id="{55858E1C-C161-0D46-684B-5EC0242768C8}"/>
              </a:ext>
            </a:extLst>
          </p:cNvPr>
          <p:cNvSpPr txBox="1"/>
          <p:nvPr/>
        </p:nvSpPr>
        <p:spPr>
          <a:xfrm>
            <a:off x="16682530" y="403013"/>
            <a:ext cx="753726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CSD438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6" name="Google Shape;86;p9">
            <a:extLst>
              <a:ext uri="{FF2B5EF4-FFF2-40B4-BE49-F238E27FC236}">
                <a16:creationId xmlns:a16="http://schemas.microsoft.com/office/drawing/2014/main" id="{C63B3E57-DAD8-49D9-8C25-A36D257E9F88}"/>
              </a:ext>
            </a:extLst>
          </p:cNvPr>
          <p:cNvSpPr txBox="1"/>
          <p:nvPr/>
        </p:nvSpPr>
        <p:spPr>
          <a:xfrm>
            <a:off x="688528" y="403853"/>
            <a:ext cx="522985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16"/>
              </a:lnSpc>
            </a:pPr>
            <a:r>
              <a:rPr lang="en-US" sz="1200" b="1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MID TERM PROJECT REVIEW</a:t>
            </a:r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2" name="Google Shape;66;p8">
            <a:extLst>
              <a:ext uri="{FF2B5EF4-FFF2-40B4-BE49-F238E27FC236}">
                <a16:creationId xmlns:a16="http://schemas.microsoft.com/office/drawing/2014/main" id="{0B29A9D3-F215-1910-53CC-DDE376D02CC9}"/>
              </a:ext>
            </a:extLst>
          </p:cNvPr>
          <p:cNvGrpSpPr/>
          <p:nvPr/>
        </p:nvGrpSpPr>
        <p:grpSpPr>
          <a:xfrm>
            <a:off x="881216" y="3036908"/>
            <a:ext cx="16555040" cy="6336577"/>
            <a:chOff x="0" y="-9525"/>
            <a:chExt cx="4274726" cy="1260348"/>
          </a:xfrm>
          <a:solidFill>
            <a:srgbClr val="F8EFE5"/>
          </a:solidFill>
        </p:grpSpPr>
        <p:sp>
          <p:nvSpPr>
            <p:cNvPr id="3" name="Google Shape;67;p8">
              <a:extLst>
                <a:ext uri="{FF2B5EF4-FFF2-40B4-BE49-F238E27FC236}">
                  <a16:creationId xmlns:a16="http://schemas.microsoft.com/office/drawing/2014/main" id="{56407DC8-1B72-956D-C568-0352B4782D31}"/>
                </a:ext>
              </a:extLst>
            </p:cNvPr>
            <p:cNvSpPr/>
            <p:nvPr/>
          </p:nvSpPr>
          <p:spPr>
            <a:xfrm>
              <a:off x="0" y="0"/>
              <a:ext cx="4274726" cy="1250823"/>
            </a:xfrm>
            <a:custGeom>
              <a:avLst/>
              <a:gdLst/>
              <a:ahLst/>
              <a:cxnLst/>
              <a:rect l="l" t="t" r="r" b="b"/>
              <a:pathLst>
                <a:path w="4274726" h="1250823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0823"/>
                  </a:lnTo>
                  <a:lnTo>
                    <a:pt x="0" y="12508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Google Shape;68;p8">
              <a:extLst>
                <a:ext uri="{FF2B5EF4-FFF2-40B4-BE49-F238E27FC236}">
                  <a16:creationId xmlns:a16="http://schemas.microsoft.com/office/drawing/2014/main" id="{8D45F067-04A2-30E5-3B34-5C18607050F4}"/>
                </a:ext>
              </a:extLst>
            </p:cNvPr>
            <p:cNvSpPr txBox="1"/>
            <p:nvPr/>
          </p:nvSpPr>
          <p:spPr>
            <a:xfrm>
              <a:off x="0" y="-9525"/>
              <a:ext cx="4274726" cy="126034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8EFE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3317BD8-9C68-AE42-0AFF-E44D4A733F50}"/>
              </a:ext>
            </a:extLst>
          </p:cNvPr>
          <p:cNvSpPr txBox="1"/>
          <p:nvPr/>
        </p:nvSpPr>
        <p:spPr>
          <a:xfrm>
            <a:off x="1370535" y="4745661"/>
            <a:ext cx="15576401" cy="2919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7. Handling Failures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If leader crashes </a:t>
            </a:r>
            <a:r>
              <a:rPr lang="en-US" sz="21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→ 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return to </a:t>
            </a:r>
            <a:r>
              <a:rPr lang="en-US" sz="2100" b="1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Recovery Phase</a:t>
            </a: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.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Uncommitted transactions are discarded to maintain global order.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sz="2100" dirty="0">
                <a:solidFill>
                  <a:srgbClr val="253278"/>
                </a:solidFill>
                <a:latin typeface="Inter" panose="020B0604020202020204" charset="0"/>
                <a:ea typeface="Inter" panose="020B0604020202020204" charset="0"/>
              </a:rPr>
              <a:t>New leader re-synchronizes followers before broadcasting again.</a:t>
            </a:r>
          </a:p>
        </p:txBody>
      </p:sp>
    </p:spTree>
    <p:extLst>
      <p:ext uri="{BB962C8B-B14F-4D97-AF65-F5344CB8AC3E}">
        <p14:creationId xmlns:p14="http://schemas.microsoft.com/office/powerpoint/2010/main" val="3363610034"/>
      </p:ext>
    </p:extLst>
  </p:cSld>
  <p:clrMapOvr>
    <a:masterClrMapping/>
  </p:clrMapOvr>
  <p:transition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FE5"/>
        </a:solidFill>
        <a:effectLst/>
      </p:bgPr>
    </p:bg>
    <p:spTree>
      <p:nvGrpSpPr>
        <p:cNvPr id="1" name="Shape 64">
          <a:extLst>
            <a:ext uri="{FF2B5EF4-FFF2-40B4-BE49-F238E27FC236}">
              <a16:creationId xmlns:a16="http://schemas.microsoft.com/office/drawing/2014/main" id="{59A35C8D-53D2-C7F3-FD86-0EF0823CE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8">
            <a:extLst>
              <a:ext uri="{FF2B5EF4-FFF2-40B4-BE49-F238E27FC236}">
                <a16:creationId xmlns:a16="http://schemas.microsoft.com/office/drawing/2014/main" id="{D1865C9B-02E9-05E3-B064-776DB631B0A5}"/>
              </a:ext>
            </a:extLst>
          </p:cNvPr>
          <p:cNvGrpSpPr/>
          <p:nvPr/>
        </p:nvGrpSpPr>
        <p:grpSpPr>
          <a:xfrm>
            <a:off x="1028700" y="4154808"/>
            <a:ext cx="12156357" cy="4785383"/>
            <a:chOff x="0" y="-9525"/>
            <a:chExt cx="4274726" cy="1260348"/>
          </a:xfrm>
        </p:grpSpPr>
        <p:sp>
          <p:nvSpPr>
            <p:cNvPr id="67" name="Google Shape;67;p8">
              <a:extLst>
                <a:ext uri="{FF2B5EF4-FFF2-40B4-BE49-F238E27FC236}">
                  <a16:creationId xmlns:a16="http://schemas.microsoft.com/office/drawing/2014/main" id="{0F3A4E76-4AA1-87D7-1E76-75732510066B}"/>
                </a:ext>
              </a:extLst>
            </p:cNvPr>
            <p:cNvSpPr/>
            <p:nvPr/>
          </p:nvSpPr>
          <p:spPr>
            <a:xfrm>
              <a:off x="0" y="0"/>
              <a:ext cx="4274726" cy="1250823"/>
            </a:xfrm>
            <a:custGeom>
              <a:avLst/>
              <a:gdLst/>
              <a:ahLst/>
              <a:cxnLst/>
              <a:rect l="l" t="t" r="r" b="b"/>
              <a:pathLst>
                <a:path w="4274726" h="1250823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0823"/>
                  </a:lnTo>
                  <a:lnTo>
                    <a:pt x="0" y="1250823"/>
                  </a:lnTo>
                  <a:close/>
                </a:path>
              </a:pathLst>
            </a:custGeom>
            <a:solidFill>
              <a:srgbClr val="25327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Google Shape;68;p8">
              <a:extLst>
                <a:ext uri="{FF2B5EF4-FFF2-40B4-BE49-F238E27FC236}">
                  <a16:creationId xmlns:a16="http://schemas.microsoft.com/office/drawing/2014/main" id="{09BBA7B2-B39E-7840-7AC2-0664C773C775}"/>
                </a:ext>
              </a:extLst>
            </p:cNvPr>
            <p:cNvSpPr txBox="1"/>
            <p:nvPr/>
          </p:nvSpPr>
          <p:spPr>
            <a:xfrm>
              <a:off x="0" y="-9525"/>
              <a:ext cx="4274726" cy="12603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" name="Google Shape;69;p8">
            <a:extLst>
              <a:ext uri="{FF2B5EF4-FFF2-40B4-BE49-F238E27FC236}">
                <a16:creationId xmlns:a16="http://schemas.microsoft.com/office/drawing/2014/main" id="{CC0D7507-5F58-5047-8707-E0E6511EDD9C}"/>
              </a:ext>
            </a:extLst>
          </p:cNvPr>
          <p:cNvSpPr txBox="1"/>
          <p:nvPr/>
        </p:nvSpPr>
        <p:spPr>
          <a:xfrm>
            <a:off x="1028699" y="1603985"/>
            <a:ext cx="12893773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0" dirty="0">
                <a:solidFill>
                  <a:srgbClr val="25327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TECH STACK</a:t>
            </a:r>
            <a:endParaRPr dirty="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0" name="Google Shape;70;p8">
            <a:extLst>
              <a:ext uri="{FF2B5EF4-FFF2-40B4-BE49-F238E27FC236}">
                <a16:creationId xmlns:a16="http://schemas.microsoft.com/office/drawing/2014/main" id="{A8946E82-FFBA-58DE-5730-2B5FE278F31C}"/>
              </a:ext>
            </a:extLst>
          </p:cNvPr>
          <p:cNvSpPr txBox="1"/>
          <p:nvPr/>
        </p:nvSpPr>
        <p:spPr>
          <a:xfrm>
            <a:off x="1605779" y="5871141"/>
            <a:ext cx="3954359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- Memory safety guarantees make it a better pick than C/C++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rgbClr val="F8EFE5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- Lack of a garbage collector makes it a better pick than Go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rgbClr val="F8EFE5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- Personal Curiosity!</a:t>
            </a:r>
          </a:p>
        </p:txBody>
      </p:sp>
      <p:sp>
        <p:nvSpPr>
          <p:cNvPr id="72" name="Google Shape;72;p8">
            <a:extLst>
              <a:ext uri="{FF2B5EF4-FFF2-40B4-BE49-F238E27FC236}">
                <a16:creationId xmlns:a16="http://schemas.microsoft.com/office/drawing/2014/main" id="{8B0E33AE-6A58-9F7E-1C11-5C9DC6AF8EC4}"/>
              </a:ext>
            </a:extLst>
          </p:cNvPr>
          <p:cNvSpPr txBox="1"/>
          <p:nvPr/>
        </p:nvSpPr>
        <p:spPr>
          <a:xfrm>
            <a:off x="7475585" y="5871141"/>
            <a:ext cx="4189200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- MPI targets tightly-coupled HPC workloads</a:t>
            </a:r>
          </a:p>
          <a:p>
            <a:pPr lvl="0"/>
            <a:endParaRPr lang="en-US" sz="2000" dirty="0">
              <a:solidFill>
                <a:srgbClr val="F8EFE5"/>
              </a:solidFill>
              <a:latin typeface="Inter" panose="020B0604020202020204" charset="0"/>
              <a:ea typeface="Inter" panose="020B0604020202020204" charset="0"/>
            </a:endParaRPr>
          </a:p>
          <a:p>
            <a:pPr lvl="0"/>
            <a:r>
              <a:rPr lang="en-US" sz="20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- RPC/TCP mirrors real-world distributed systems</a:t>
            </a:r>
          </a:p>
          <a:p>
            <a:pPr lvl="0"/>
            <a:endParaRPr lang="en-US" sz="2000" dirty="0">
              <a:solidFill>
                <a:srgbClr val="F8EFE5"/>
              </a:solidFill>
              <a:latin typeface="Inter" panose="020B0604020202020204" charset="0"/>
              <a:ea typeface="Inter" panose="020B0604020202020204" charset="0"/>
            </a:endParaRPr>
          </a:p>
          <a:p>
            <a:pPr lvl="0"/>
            <a:r>
              <a:rPr lang="en-US" sz="20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- Production-ready library support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rgbClr val="F8EFE5"/>
              </a:solidFill>
            </a:endParaRPr>
          </a:p>
        </p:txBody>
      </p:sp>
      <p:cxnSp>
        <p:nvCxnSpPr>
          <p:cNvPr id="76" name="Google Shape;76;p8">
            <a:extLst>
              <a:ext uri="{FF2B5EF4-FFF2-40B4-BE49-F238E27FC236}">
                <a16:creationId xmlns:a16="http://schemas.microsoft.com/office/drawing/2014/main" id="{C59CC635-9092-7834-EF9A-6547AA03E102}"/>
              </a:ext>
            </a:extLst>
          </p:cNvPr>
          <p:cNvCxnSpPr/>
          <p:nvPr/>
        </p:nvCxnSpPr>
        <p:spPr>
          <a:xfrm rot="10800000">
            <a:off x="6860938" y="4696699"/>
            <a:ext cx="0" cy="3737766"/>
          </a:xfrm>
          <a:prstGeom prst="straightConnector1">
            <a:avLst/>
          </a:prstGeom>
          <a:noFill/>
          <a:ln w="38100" cap="flat" cmpd="sng">
            <a:solidFill>
              <a:srgbClr val="F8EF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59;p7">
            <a:extLst>
              <a:ext uri="{FF2B5EF4-FFF2-40B4-BE49-F238E27FC236}">
                <a16:creationId xmlns:a16="http://schemas.microsoft.com/office/drawing/2014/main" id="{756A5A5C-9C35-EBC0-D8AD-B2422C0B3DD9}"/>
              </a:ext>
            </a:extLst>
          </p:cNvPr>
          <p:cNvSpPr txBox="1"/>
          <p:nvPr/>
        </p:nvSpPr>
        <p:spPr>
          <a:xfrm>
            <a:off x="16682530" y="403013"/>
            <a:ext cx="753726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rPr>
              <a:t>CSD</a:t>
            </a:r>
            <a:r>
              <a:rPr lang="en-US" sz="1200" b="1" i="0" u="none" strike="noStrike" cap="none" dirty="0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rPr>
              <a:t>438</a:t>
            </a:r>
            <a:endParaRPr dirty="0"/>
          </a:p>
        </p:txBody>
      </p:sp>
      <p:sp>
        <p:nvSpPr>
          <p:cNvPr id="5" name="Google Shape;60;p7">
            <a:extLst>
              <a:ext uri="{FF2B5EF4-FFF2-40B4-BE49-F238E27FC236}">
                <a16:creationId xmlns:a16="http://schemas.microsoft.com/office/drawing/2014/main" id="{F64C360C-C8B1-37E9-D69C-9FC1FA34119C}"/>
              </a:ext>
            </a:extLst>
          </p:cNvPr>
          <p:cNvSpPr txBox="1"/>
          <p:nvPr/>
        </p:nvSpPr>
        <p:spPr>
          <a:xfrm>
            <a:off x="688528" y="403853"/>
            <a:ext cx="522985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253278"/>
                </a:solidFill>
                <a:latin typeface="Inter"/>
                <a:ea typeface="Inter"/>
                <a:sym typeface="Inter"/>
              </a:rPr>
              <a:t>MID TERM PROJECT REVIEW</a:t>
            </a:r>
            <a:endParaRPr dirty="0"/>
          </a:p>
        </p:txBody>
      </p:sp>
      <p:sp>
        <p:nvSpPr>
          <p:cNvPr id="2" name="Google Shape;70;p8">
            <a:extLst>
              <a:ext uri="{FF2B5EF4-FFF2-40B4-BE49-F238E27FC236}">
                <a16:creationId xmlns:a16="http://schemas.microsoft.com/office/drawing/2014/main" id="{751AF538-83C5-2711-475D-C8F1F02A7AA0}"/>
              </a:ext>
            </a:extLst>
          </p:cNvPr>
          <p:cNvSpPr txBox="1"/>
          <p:nvPr/>
        </p:nvSpPr>
        <p:spPr>
          <a:xfrm>
            <a:off x="1605779" y="4903656"/>
            <a:ext cx="37470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8EFE5"/>
                </a:solidFill>
                <a:latin typeface="Inter SemiBold"/>
                <a:ea typeface="Inter SemiBold"/>
                <a:sym typeface="Inter SemiBold"/>
              </a:rPr>
              <a:t>Rust</a:t>
            </a:r>
            <a:endParaRPr lang="en-US" dirty="0">
              <a:solidFill>
                <a:srgbClr val="F8EFE5"/>
              </a:solidFill>
            </a:endParaRPr>
          </a:p>
        </p:txBody>
      </p:sp>
      <p:sp>
        <p:nvSpPr>
          <p:cNvPr id="3" name="Google Shape;70;p8">
            <a:extLst>
              <a:ext uri="{FF2B5EF4-FFF2-40B4-BE49-F238E27FC236}">
                <a16:creationId xmlns:a16="http://schemas.microsoft.com/office/drawing/2014/main" id="{4E3EE103-B58E-0401-3164-CDF129A4FDC8}"/>
              </a:ext>
            </a:extLst>
          </p:cNvPr>
          <p:cNvSpPr txBox="1"/>
          <p:nvPr/>
        </p:nvSpPr>
        <p:spPr>
          <a:xfrm>
            <a:off x="7475585" y="4798509"/>
            <a:ext cx="37470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8EFE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RPC (gRPC)</a:t>
            </a:r>
            <a:endParaRPr lang="en-US" dirty="0">
              <a:solidFill>
                <a:srgbClr val="F8EFE5"/>
              </a:solidFill>
            </a:endParaRP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E30C184-A665-A60C-6FAE-5D17EDCF6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4058" y="4075678"/>
            <a:ext cx="2471821" cy="2471821"/>
          </a:xfrm>
          <a:prstGeom prst="rect">
            <a:avLst/>
          </a:prstGeom>
        </p:spPr>
      </p:pic>
      <p:pic>
        <p:nvPicPr>
          <p:cNvPr id="9" name="Picture 8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E8A88DE-7BD5-4506-4BF8-6FB012625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61218" y="6547499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58015"/>
      </p:ext>
    </p:extLst>
  </p:cSld>
  <p:clrMapOvr>
    <a:masterClrMapping/>
  </p:clrMapOvr>
  <p:transition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FE5"/>
        </a:solidFill>
        <a:effectLst/>
      </p:bgPr>
    </p:bg>
    <p:spTree>
      <p:nvGrpSpPr>
        <p:cNvPr id="1" name="Shape 64">
          <a:extLst>
            <a:ext uri="{FF2B5EF4-FFF2-40B4-BE49-F238E27FC236}">
              <a16:creationId xmlns:a16="http://schemas.microsoft.com/office/drawing/2014/main" id="{7F6BF78E-9FF3-DB93-E6CC-898F21D3D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8">
            <a:extLst>
              <a:ext uri="{FF2B5EF4-FFF2-40B4-BE49-F238E27FC236}">
                <a16:creationId xmlns:a16="http://schemas.microsoft.com/office/drawing/2014/main" id="{3512089F-D56E-9042-2C57-6EC1C333951E}"/>
              </a:ext>
            </a:extLst>
          </p:cNvPr>
          <p:cNvGrpSpPr/>
          <p:nvPr/>
        </p:nvGrpSpPr>
        <p:grpSpPr>
          <a:xfrm>
            <a:off x="1028701" y="2713702"/>
            <a:ext cx="16182668" cy="6910617"/>
            <a:chOff x="0" y="-9525"/>
            <a:chExt cx="4274726" cy="1260348"/>
          </a:xfrm>
        </p:grpSpPr>
        <p:sp>
          <p:nvSpPr>
            <p:cNvPr id="67" name="Google Shape;67;p8">
              <a:extLst>
                <a:ext uri="{FF2B5EF4-FFF2-40B4-BE49-F238E27FC236}">
                  <a16:creationId xmlns:a16="http://schemas.microsoft.com/office/drawing/2014/main" id="{435F8FB6-84A3-9081-2D6A-A22A0D04D876}"/>
                </a:ext>
              </a:extLst>
            </p:cNvPr>
            <p:cNvSpPr/>
            <p:nvPr/>
          </p:nvSpPr>
          <p:spPr>
            <a:xfrm>
              <a:off x="0" y="0"/>
              <a:ext cx="4274726" cy="1250823"/>
            </a:xfrm>
            <a:custGeom>
              <a:avLst/>
              <a:gdLst/>
              <a:ahLst/>
              <a:cxnLst/>
              <a:rect l="l" t="t" r="r" b="b"/>
              <a:pathLst>
                <a:path w="4274726" h="1250823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0823"/>
                  </a:lnTo>
                  <a:lnTo>
                    <a:pt x="0" y="1250823"/>
                  </a:lnTo>
                  <a:close/>
                </a:path>
              </a:pathLst>
            </a:custGeom>
            <a:solidFill>
              <a:srgbClr val="25327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Google Shape;68;p8">
              <a:extLst>
                <a:ext uri="{FF2B5EF4-FFF2-40B4-BE49-F238E27FC236}">
                  <a16:creationId xmlns:a16="http://schemas.microsoft.com/office/drawing/2014/main" id="{519B7F9A-2C54-69A2-237A-3C636DE85661}"/>
                </a:ext>
              </a:extLst>
            </p:cNvPr>
            <p:cNvSpPr txBox="1"/>
            <p:nvPr/>
          </p:nvSpPr>
          <p:spPr>
            <a:xfrm>
              <a:off x="0" y="-9525"/>
              <a:ext cx="4274726" cy="12603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Google Shape;59;p7">
            <a:extLst>
              <a:ext uri="{FF2B5EF4-FFF2-40B4-BE49-F238E27FC236}">
                <a16:creationId xmlns:a16="http://schemas.microsoft.com/office/drawing/2014/main" id="{0E1DA9FC-2518-8D38-EC33-269256EA9C74}"/>
              </a:ext>
            </a:extLst>
          </p:cNvPr>
          <p:cNvSpPr txBox="1"/>
          <p:nvPr/>
        </p:nvSpPr>
        <p:spPr>
          <a:xfrm>
            <a:off x="16682530" y="403013"/>
            <a:ext cx="753726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rPr>
              <a:t>CSD</a:t>
            </a:r>
            <a:r>
              <a:rPr lang="en-US" sz="1200" b="1" i="0" u="none" strike="noStrike" cap="none" dirty="0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rPr>
              <a:t>438</a:t>
            </a:r>
            <a:endParaRPr dirty="0"/>
          </a:p>
        </p:txBody>
      </p:sp>
      <p:sp>
        <p:nvSpPr>
          <p:cNvPr id="5" name="Google Shape;60;p7">
            <a:extLst>
              <a:ext uri="{FF2B5EF4-FFF2-40B4-BE49-F238E27FC236}">
                <a16:creationId xmlns:a16="http://schemas.microsoft.com/office/drawing/2014/main" id="{AAAC7A98-7567-87EA-E5F7-550FEAF7FFA5}"/>
              </a:ext>
            </a:extLst>
          </p:cNvPr>
          <p:cNvSpPr txBox="1"/>
          <p:nvPr/>
        </p:nvSpPr>
        <p:spPr>
          <a:xfrm>
            <a:off x="688528" y="403853"/>
            <a:ext cx="522985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253278"/>
                </a:solidFill>
                <a:latin typeface="Inter"/>
                <a:ea typeface="Inter"/>
                <a:sym typeface="Inter"/>
              </a:rPr>
              <a:t>MID TERM PROJECT REVIEW</a:t>
            </a:r>
            <a:endParaRPr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E651819-21F1-202A-3E69-058280EDBA97}"/>
              </a:ext>
            </a:extLst>
          </p:cNvPr>
          <p:cNvGrpSpPr/>
          <p:nvPr/>
        </p:nvGrpSpPr>
        <p:grpSpPr>
          <a:xfrm>
            <a:off x="1028701" y="975304"/>
            <a:ext cx="15653829" cy="1477328"/>
            <a:chOff x="13460907" y="8146992"/>
            <a:chExt cx="15653829" cy="1477328"/>
          </a:xfrm>
        </p:grpSpPr>
        <p:sp>
          <p:nvSpPr>
            <p:cNvPr id="2" name="Google Shape;69;p8">
              <a:extLst>
                <a:ext uri="{FF2B5EF4-FFF2-40B4-BE49-F238E27FC236}">
                  <a16:creationId xmlns:a16="http://schemas.microsoft.com/office/drawing/2014/main" id="{1830F63D-FE51-92FE-C902-376EDAD61065}"/>
                </a:ext>
              </a:extLst>
            </p:cNvPr>
            <p:cNvSpPr txBox="1"/>
            <p:nvPr/>
          </p:nvSpPr>
          <p:spPr>
            <a:xfrm>
              <a:off x="14427736" y="8146992"/>
              <a:ext cx="14687000" cy="14773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600" dirty="0">
                  <a:solidFill>
                    <a:srgbClr val="25327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Cluster Configuration</a:t>
              </a:r>
              <a:endParaRPr sz="9600" dirty="0"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3" name="Google Shape;309;p19">
              <a:extLst>
                <a:ext uri="{FF2B5EF4-FFF2-40B4-BE49-F238E27FC236}">
                  <a16:creationId xmlns:a16="http://schemas.microsoft.com/office/drawing/2014/main" id="{7E9B69F9-7BE7-3476-CBE9-9BAC53A689F7}"/>
                </a:ext>
              </a:extLst>
            </p:cNvPr>
            <p:cNvSpPr/>
            <p:nvPr/>
          </p:nvSpPr>
          <p:spPr>
            <a:xfrm>
              <a:off x="13460907" y="8512787"/>
              <a:ext cx="802637" cy="779288"/>
            </a:xfrm>
            <a:custGeom>
              <a:avLst/>
              <a:gdLst/>
              <a:ahLst/>
              <a:cxnLst/>
              <a:rect l="l" t="t" r="r" b="b"/>
              <a:pathLst>
                <a:path w="802637" h="779288" extrusionOk="0">
                  <a:moveTo>
                    <a:pt x="0" y="0"/>
                  </a:moveTo>
                  <a:lnTo>
                    <a:pt x="802638" y="0"/>
                  </a:lnTo>
                  <a:lnTo>
                    <a:pt x="802638" y="779288"/>
                  </a:lnTo>
                  <a:lnTo>
                    <a:pt x="0" y="7792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2">
            <a:extLst>
              <a:ext uri="{FF2B5EF4-FFF2-40B4-BE49-F238E27FC236}">
                <a16:creationId xmlns:a16="http://schemas.microsoft.com/office/drawing/2014/main" id="{F331F13B-1696-6A32-8DFB-6334CC671E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4835A66F-F217-A6DE-68E6-B56EAE9EDD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2E534A-4737-033F-8EB8-7A15278546E3}"/>
              </a:ext>
            </a:extLst>
          </p:cNvPr>
          <p:cNvSpPr txBox="1"/>
          <p:nvPr/>
        </p:nvSpPr>
        <p:spPr>
          <a:xfrm rot="10800000" flipV="1">
            <a:off x="1480189" y="4581701"/>
            <a:ext cx="15327621" cy="3226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Clr>
                <a:srgbClr val="F8EFE5"/>
              </a:buClr>
              <a:buFontTx/>
              <a:buChar char="-"/>
            </a:pPr>
            <a:r>
              <a:rPr lang="en-IN" sz="2100" b="1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Base Cluster: </a:t>
            </a:r>
            <a:r>
              <a:rPr lang="en-IN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5 nodes (3 for quorum, 2 spares) [Extended to 7 and 9 nodes]</a:t>
            </a:r>
            <a:endParaRPr lang="en-IN" sz="2100" b="1" dirty="0">
              <a:solidFill>
                <a:srgbClr val="F8EFE5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342900" indent="-342900">
              <a:lnSpc>
                <a:spcPct val="200000"/>
              </a:lnSpc>
              <a:buClr>
                <a:srgbClr val="F8EFE5"/>
              </a:buClr>
              <a:buFontTx/>
              <a:buChar char="-"/>
            </a:pPr>
            <a:r>
              <a:rPr lang="en-IN" sz="2100" b="1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Workloads Tested</a:t>
            </a:r>
            <a:r>
              <a:rPr lang="en-IN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: Both read/write heavy and mixed operation workloads</a:t>
            </a:r>
            <a:endParaRPr lang="en-IN" sz="2100" b="1" dirty="0">
              <a:solidFill>
                <a:srgbClr val="F8EFE5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342900" indent="-342900">
              <a:lnSpc>
                <a:spcPct val="200000"/>
              </a:lnSpc>
              <a:buClr>
                <a:srgbClr val="F8EFE5"/>
              </a:buClr>
              <a:buFontTx/>
              <a:buChar char="-"/>
            </a:pPr>
            <a:r>
              <a:rPr lang="en-IN" sz="2100" b="1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Fault Inject scenarios</a:t>
            </a:r>
            <a:r>
              <a:rPr lang="en-IN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:</a:t>
            </a:r>
          </a:p>
          <a:p>
            <a:pPr>
              <a:lnSpc>
                <a:spcPct val="200000"/>
              </a:lnSpc>
              <a:buClr>
                <a:srgbClr val="F8EFE5"/>
              </a:buClr>
            </a:pPr>
            <a:r>
              <a:rPr lang="en-IN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	</a:t>
            </a:r>
            <a:r>
              <a:rPr lang="en-IN" sz="2100" b="1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Leader Crashes</a:t>
            </a:r>
            <a:endParaRPr lang="en-IN" sz="2100" dirty="0">
              <a:solidFill>
                <a:srgbClr val="F8EFE5"/>
              </a:solidFill>
              <a:latin typeface="Inter" panose="020B0604020202020204" charset="0"/>
              <a:ea typeface="Inter" panose="020B0604020202020204" charset="0"/>
            </a:endParaRPr>
          </a:p>
          <a:p>
            <a:pPr>
              <a:lnSpc>
                <a:spcPct val="200000"/>
              </a:lnSpc>
              <a:buClr>
                <a:srgbClr val="F8EFE5"/>
              </a:buClr>
            </a:pPr>
            <a:r>
              <a:rPr lang="en-IN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	</a:t>
            </a:r>
            <a:r>
              <a:rPr lang="en-IN" sz="2100" b="1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Follower Delays</a:t>
            </a:r>
            <a:endParaRPr lang="en-IN" sz="2100" dirty="0">
              <a:solidFill>
                <a:srgbClr val="F8EFE5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607860"/>
      </p:ext>
    </p:extLst>
  </p:cSld>
  <p:clrMapOvr>
    <a:masterClrMapping/>
  </p:clrMapOvr>
  <p:transition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FE5"/>
        </a:solidFill>
        <a:effectLst/>
      </p:bgPr>
    </p:bg>
    <p:spTree>
      <p:nvGrpSpPr>
        <p:cNvPr id="1" name="Shape 64">
          <a:extLst>
            <a:ext uri="{FF2B5EF4-FFF2-40B4-BE49-F238E27FC236}">
              <a16:creationId xmlns:a16="http://schemas.microsoft.com/office/drawing/2014/main" id="{61D965EE-A9C4-461F-7FDC-01F6A6D4F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8">
            <a:extLst>
              <a:ext uri="{FF2B5EF4-FFF2-40B4-BE49-F238E27FC236}">
                <a16:creationId xmlns:a16="http://schemas.microsoft.com/office/drawing/2014/main" id="{046AF787-3CC6-3312-9678-7401C7C77633}"/>
              </a:ext>
            </a:extLst>
          </p:cNvPr>
          <p:cNvGrpSpPr/>
          <p:nvPr/>
        </p:nvGrpSpPr>
        <p:grpSpPr>
          <a:xfrm>
            <a:off x="1028701" y="2713702"/>
            <a:ext cx="9383660" cy="6910617"/>
            <a:chOff x="0" y="-9525"/>
            <a:chExt cx="4274726" cy="1260348"/>
          </a:xfrm>
        </p:grpSpPr>
        <p:sp>
          <p:nvSpPr>
            <p:cNvPr id="67" name="Google Shape;67;p8">
              <a:extLst>
                <a:ext uri="{FF2B5EF4-FFF2-40B4-BE49-F238E27FC236}">
                  <a16:creationId xmlns:a16="http://schemas.microsoft.com/office/drawing/2014/main" id="{DA936796-1C6D-DCC8-92F4-BCAC157BCD6F}"/>
                </a:ext>
              </a:extLst>
            </p:cNvPr>
            <p:cNvSpPr/>
            <p:nvPr/>
          </p:nvSpPr>
          <p:spPr>
            <a:xfrm>
              <a:off x="0" y="0"/>
              <a:ext cx="4274726" cy="1250823"/>
            </a:xfrm>
            <a:custGeom>
              <a:avLst/>
              <a:gdLst/>
              <a:ahLst/>
              <a:cxnLst/>
              <a:rect l="l" t="t" r="r" b="b"/>
              <a:pathLst>
                <a:path w="4274726" h="1250823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0823"/>
                  </a:lnTo>
                  <a:lnTo>
                    <a:pt x="0" y="1250823"/>
                  </a:lnTo>
                  <a:close/>
                </a:path>
              </a:pathLst>
            </a:custGeom>
            <a:solidFill>
              <a:srgbClr val="25327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Google Shape;68;p8">
              <a:extLst>
                <a:ext uri="{FF2B5EF4-FFF2-40B4-BE49-F238E27FC236}">
                  <a16:creationId xmlns:a16="http://schemas.microsoft.com/office/drawing/2014/main" id="{9F5411FF-BD43-18B5-4CE0-769673A0BA55}"/>
                </a:ext>
              </a:extLst>
            </p:cNvPr>
            <p:cNvSpPr txBox="1"/>
            <p:nvPr/>
          </p:nvSpPr>
          <p:spPr>
            <a:xfrm>
              <a:off x="0" y="-9525"/>
              <a:ext cx="4274726" cy="12603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Google Shape;59;p7">
            <a:extLst>
              <a:ext uri="{FF2B5EF4-FFF2-40B4-BE49-F238E27FC236}">
                <a16:creationId xmlns:a16="http://schemas.microsoft.com/office/drawing/2014/main" id="{3E137ED0-8978-7A47-01DB-F777D1ACD16E}"/>
              </a:ext>
            </a:extLst>
          </p:cNvPr>
          <p:cNvSpPr txBox="1"/>
          <p:nvPr/>
        </p:nvSpPr>
        <p:spPr>
          <a:xfrm>
            <a:off x="16682530" y="403013"/>
            <a:ext cx="753726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rPr>
              <a:t>CSD</a:t>
            </a:r>
            <a:r>
              <a:rPr lang="en-US" sz="1200" b="1" i="0" u="none" strike="noStrike" cap="none" dirty="0">
                <a:solidFill>
                  <a:srgbClr val="253278"/>
                </a:solidFill>
                <a:latin typeface="Inter"/>
                <a:ea typeface="Inter"/>
                <a:cs typeface="Inter"/>
                <a:sym typeface="Inter"/>
              </a:rPr>
              <a:t>438</a:t>
            </a:r>
            <a:endParaRPr dirty="0"/>
          </a:p>
        </p:txBody>
      </p:sp>
      <p:sp>
        <p:nvSpPr>
          <p:cNvPr id="5" name="Google Shape;60;p7">
            <a:extLst>
              <a:ext uri="{FF2B5EF4-FFF2-40B4-BE49-F238E27FC236}">
                <a16:creationId xmlns:a16="http://schemas.microsoft.com/office/drawing/2014/main" id="{AE1BD406-5943-452F-8252-4769D56137F0}"/>
              </a:ext>
            </a:extLst>
          </p:cNvPr>
          <p:cNvSpPr txBox="1"/>
          <p:nvPr/>
        </p:nvSpPr>
        <p:spPr>
          <a:xfrm>
            <a:off x="688528" y="403853"/>
            <a:ext cx="522985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253278"/>
                </a:solidFill>
                <a:latin typeface="Inter"/>
                <a:ea typeface="Inter"/>
                <a:sym typeface="Inter"/>
              </a:rPr>
              <a:t>MID TERM PROJECT REVIEW</a:t>
            </a:r>
            <a:endParaRPr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81235A4-E97D-C648-7EB6-3672CF9B867C}"/>
              </a:ext>
            </a:extLst>
          </p:cNvPr>
          <p:cNvGrpSpPr/>
          <p:nvPr/>
        </p:nvGrpSpPr>
        <p:grpSpPr>
          <a:xfrm>
            <a:off x="1028701" y="975304"/>
            <a:ext cx="15653829" cy="1477328"/>
            <a:chOff x="13460907" y="8146992"/>
            <a:chExt cx="15653829" cy="1477328"/>
          </a:xfrm>
        </p:grpSpPr>
        <p:sp>
          <p:nvSpPr>
            <p:cNvPr id="2" name="Google Shape;69;p8">
              <a:extLst>
                <a:ext uri="{FF2B5EF4-FFF2-40B4-BE49-F238E27FC236}">
                  <a16:creationId xmlns:a16="http://schemas.microsoft.com/office/drawing/2014/main" id="{D27AFEEF-909D-1DCA-1B98-140073B25F5F}"/>
                </a:ext>
              </a:extLst>
            </p:cNvPr>
            <p:cNvSpPr txBox="1"/>
            <p:nvPr/>
          </p:nvSpPr>
          <p:spPr>
            <a:xfrm>
              <a:off x="14427736" y="8146992"/>
              <a:ext cx="14687000" cy="14773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600" dirty="0">
                  <a:solidFill>
                    <a:srgbClr val="25327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System Architecture</a:t>
              </a:r>
              <a:endParaRPr sz="9600" dirty="0"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3" name="Google Shape;309;p19">
              <a:extLst>
                <a:ext uri="{FF2B5EF4-FFF2-40B4-BE49-F238E27FC236}">
                  <a16:creationId xmlns:a16="http://schemas.microsoft.com/office/drawing/2014/main" id="{B47EF8EB-BC60-16CA-AAE8-F05B15697311}"/>
                </a:ext>
              </a:extLst>
            </p:cNvPr>
            <p:cNvSpPr/>
            <p:nvPr/>
          </p:nvSpPr>
          <p:spPr>
            <a:xfrm>
              <a:off x="13460907" y="8512787"/>
              <a:ext cx="802637" cy="779288"/>
            </a:xfrm>
            <a:custGeom>
              <a:avLst/>
              <a:gdLst/>
              <a:ahLst/>
              <a:cxnLst/>
              <a:rect l="l" t="t" r="r" b="b"/>
              <a:pathLst>
                <a:path w="802637" h="779288" extrusionOk="0">
                  <a:moveTo>
                    <a:pt x="0" y="0"/>
                  </a:moveTo>
                  <a:lnTo>
                    <a:pt x="802638" y="0"/>
                  </a:lnTo>
                  <a:lnTo>
                    <a:pt x="802638" y="779288"/>
                  </a:lnTo>
                  <a:lnTo>
                    <a:pt x="0" y="7792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2">
            <a:extLst>
              <a:ext uri="{FF2B5EF4-FFF2-40B4-BE49-F238E27FC236}">
                <a16:creationId xmlns:a16="http://schemas.microsoft.com/office/drawing/2014/main" id="{A1AE2019-9A12-3F43-602D-26B602926F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581DB6E9-4E51-374E-3321-4398673D2E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6E199A-6650-49A9-BA4C-9E74DDE91E60}"/>
              </a:ext>
            </a:extLst>
          </p:cNvPr>
          <p:cNvSpPr txBox="1"/>
          <p:nvPr/>
        </p:nvSpPr>
        <p:spPr>
          <a:xfrm rot="10800000" flipV="1">
            <a:off x="1354908" y="3935371"/>
            <a:ext cx="8777233" cy="4519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Clr>
                <a:srgbClr val="F8EFE5"/>
              </a:buClr>
            </a:pPr>
            <a:r>
              <a:rPr lang="en-IN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Each node includes:</a:t>
            </a:r>
          </a:p>
          <a:p>
            <a:pPr marL="342900" indent="-342900">
              <a:lnSpc>
                <a:spcPct val="200000"/>
              </a:lnSpc>
              <a:buClr>
                <a:srgbClr val="F8EFE5"/>
              </a:buClr>
              <a:buFontTx/>
              <a:buChar char="-"/>
            </a:pPr>
            <a:r>
              <a:rPr lang="en-IN" sz="2100" b="1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Consensus Engine: </a:t>
            </a:r>
            <a:r>
              <a:rPr lang="en-IN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Runs Raft or ZAB logic</a:t>
            </a:r>
            <a:endParaRPr lang="en-IN" sz="2100" b="1" dirty="0">
              <a:solidFill>
                <a:srgbClr val="F8EFE5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342900" indent="-342900">
              <a:lnSpc>
                <a:spcPct val="200000"/>
              </a:lnSpc>
              <a:buClr>
                <a:srgbClr val="F8EFE5"/>
              </a:buClr>
              <a:buFontTx/>
              <a:buChar char="-"/>
            </a:pPr>
            <a:r>
              <a:rPr lang="en-IN" sz="2100" b="1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Communications Layer</a:t>
            </a:r>
            <a:r>
              <a:rPr lang="en-IN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: Uses RPC to communicate and handle </a:t>
            </a:r>
            <a:r>
              <a:rPr lang="en-IN" sz="2100" b="1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AppendEntries/Commit </a:t>
            </a:r>
            <a:r>
              <a:rPr lang="en-IN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messages</a:t>
            </a:r>
            <a:endParaRPr lang="en-IN" sz="2100" b="1" dirty="0">
              <a:solidFill>
                <a:srgbClr val="F8EFE5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342900" indent="-342900">
              <a:lnSpc>
                <a:spcPct val="200000"/>
              </a:lnSpc>
              <a:buClr>
                <a:srgbClr val="F8EFE5"/>
              </a:buClr>
              <a:buFontTx/>
              <a:buChar char="-"/>
            </a:pPr>
            <a:r>
              <a:rPr lang="en-IN" sz="2100" b="1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Client Interface</a:t>
            </a:r>
          </a:p>
          <a:p>
            <a:pPr marL="342900" indent="-342900">
              <a:lnSpc>
                <a:spcPct val="200000"/>
              </a:lnSpc>
              <a:buClr>
                <a:srgbClr val="F8EFE5"/>
              </a:buClr>
              <a:buFontTx/>
              <a:buChar char="-"/>
            </a:pPr>
            <a:r>
              <a:rPr lang="en-IN" sz="2100" b="1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Persistent Log: </a:t>
            </a:r>
            <a:r>
              <a:rPr lang="en-IN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Durable and persistent timestamped log</a:t>
            </a:r>
          </a:p>
          <a:p>
            <a:pPr marL="342900" indent="-342900">
              <a:lnSpc>
                <a:spcPct val="200000"/>
              </a:lnSpc>
              <a:buClr>
                <a:srgbClr val="F8EFE5"/>
              </a:buClr>
              <a:buFontTx/>
              <a:buChar char="-"/>
            </a:pPr>
            <a:r>
              <a:rPr lang="en-IN" sz="2100" b="1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Timer Subsystem: </a:t>
            </a:r>
            <a:r>
              <a:rPr lang="en-IN" sz="2100" dirty="0">
                <a:solidFill>
                  <a:srgbClr val="F8EFE5"/>
                </a:solidFill>
                <a:latin typeface="Inter" panose="020B0604020202020204" charset="0"/>
                <a:ea typeface="Inter" panose="020B0604020202020204" charset="0"/>
              </a:rPr>
              <a:t>Controls elections and heartbeats</a:t>
            </a:r>
            <a:endParaRPr lang="en-IN" sz="2100" b="1" dirty="0">
              <a:solidFill>
                <a:srgbClr val="F8EFE5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3" name="Picture 12" descr="A diagram of a computer&#10;&#10;AI-generated content may be incorrect.">
            <a:extLst>
              <a:ext uri="{FF2B5EF4-FFF2-40B4-BE49-F238E27FC236}">
                <a16:creationId xmlns:a16="http://schemas.microsoft.com/office/drawing/2014/main" id="{7982C9CE-AD87-68CA-CBAF-DE5D1DD6A0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8567" y="3362632"/>
            <a:ext cx="7170713" cy="524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181482"/>
      </p:ext>
    </p:extLst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name="Muted Minimal Year-End Review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1262</Words>
  <Application>Microsoft Office PowerPoint</Application>
  <PresentationFormat>Custom</PresentationFormat>
  <Paragraphs>184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Calibri</vt:lpstr>
      <vt:lpstr>Inter SemiBold</vt:lpstr>
      <vt:lpstr>Inter ExtraBold</vt:lpstr>
      <vt:lpstr>Inter</vt:lpstr>
      <vt:lpstr>Arial</vt:lpstr>
      <vt:lpstr>Muted Minimal Year-End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Jia Khot</dc:creator>
  <cp:lastModifiedBy>Lalit Maurya</cp:lastModifiedBy>
  <cp:revision>47</cp:revision>
  <dcterms:modified xsi:type="dcterms:W3CDTF">2025-10-16T17:01:25Z</dcterms:modified>
</cp:coreProperties>
</file>