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57" r:id="rId3"/>
    <p:sldId id="258" r:id="rId4"/>
    <p:sldId id="263" r:id="rId5"/>
    <p:sldId id="313" r:id="rId6"/>
    <p:sldId id="316" r:id="rId7"/>
    <p:sldId id="312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Chakra Petch Medium" panose="020B0604020202020204" charset="-34"/>
      <p:regular r:id="rId21"/>
      <p:bold r:id="rId22"/>
      <p:italic r:id="rId23"/>
      <p:boldItalic r:id="rId24"/>
    </p:embeddedFont>
    <p:embeddedFont>
      <p:font typeface="Fira Code" panose="020B0809050000020004" pitchFamily="49" charset="0"/>
      <p:regular r:id="rId25"/>
      <p:bold r:id="rId26"/>
    </p:embeddedFont>
    <p:embeddedFont>
      <p:font typeface="Roboto Condensed Light" panose="02000000000000000000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CA8D85-B71A-493A-8FC6-C5D8504760C6}">
  <a:tblStyle styleId="{C7CA8D85-B71A-493A-8FC6-C5D8504760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61526d799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61526d799_0_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9375F59B-D0E6-8035-D08E-439DC650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1692DF2E-DE52-E310-84DD-BA0B07256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CACAA4FE-31B8-69D6-FE71-4EBCFE25E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497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CD2A5E0A-58CB-4AF6-5753-E4438CCC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0F03090E-B48F-3EE2-53E8-E94DF30BA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9344A5E3-D934-DC41-6848-26477D86F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476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8070C112-13BC-F59D-B04A-559B186E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FA0945CB-F463-CDBE-70B0-9B6D99E1D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6AF63288-93D2-144B-F825-25F832860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161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EF044333-3CEC-DA50-5677-D8AF0A5A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CFD31924-B89F-D301-0DF1-308B4419A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2D9079C2-A9EA-7911-F0A6-56DD09C96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48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6397B3AE-B191-94C6-38A4-AC677487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CDCF98F7-CBB3-CF8D-0E55-034D3E5C5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1068290A-DEEA-24C1-A7A2-BA8737AB4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245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167F28EE-9993-1CC0-7831-C0C646D9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935AB869-E1F9-70B4-CB8A-47992A593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D519D1CC-B316-D686-A6AE-38970B952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44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F4E9B96C-B4B1-B657-56AE-106AC715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8461C715-2376-56FB-FA67-D4FE1E070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5D2DBA85-AD91-ACE3-0D46-A847EA159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35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1633F6A1-D443-13AE-B049-B1F6B9F2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FD17161A-C46C-8D91-E819-FFC782C85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F57CCB8A-EB07-EABA-8DFD-F82D015AD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535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2CD8E2D7-E72C-111D-36BE-53C876BF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863F5271-29BA-6B72-0C98-228EB1DFC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378D47E2-B930-EA2E-E258-24B04B720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345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A70E42D7-DD43-80FF-465A-4C564B86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B3012F28-27F4-BCD6-88EC-FE6D5D7B5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0D261614-8D85-A8BF-E8EE-C3098EA78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3333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8BE44217-12E7-8418-04B0-A14021E1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C026B4D2-B282-D4A6-8335-71467F248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F9AE9A86-0DBD-1C75-B624-A52A577A9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001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C1C1F811-83E9-F360-A78D-B32E4BDF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B3B36A85-C765-32AF-E4D1-1BEC16406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C02AE2F5-68DD-D7C5-C739-AA994F8F3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086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72E0743B-1A29-D377-E498-4AF16AE1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35464BF5-46F1-C96C-86F3-38AFB0FB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3C05EC73-907E-CB38-7C81-4EADAB9B1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99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" name="Google Shape;50;p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55;p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" name="Google Shape;57;p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9" name="Google Shape;59;p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" name="Google Shape;60;p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61" name="Google Shape;61;p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62;p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5908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AutoNum type="arabicPeriod"/>
              <a:defRPr sz="1000">
                <a:solidFill>
                  <a:srgbClr val="434343"/>
                </a:solidFill>
              </a:defRPr>
            </a:lvl1pPr>
            <a:lvl2pPr marL="914400" lvl="1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9" name="Google Shape;69;p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76" name="Google Shape;76;p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" name="Google Shape;78;p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" name="Google Shape;79;p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80" name="Google Shape;80;p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" name="Google Shape;81;p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" name="Google Shape;84;p5"/>
          <p:cNvSpPr txBox="1">
            <a:spLocks noGrp="1"/>
          </p:cNvSpPr>
          <p:nvPr>
            <p:ph type="subTitle" idx="1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2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3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4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03" name="Google Shape;203;p1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8" name="Google Shape;208;p1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10" name="Google Shape;210;p1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2" name="Google Shape;212;p1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3" name="Google Shape;213;p1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4" name="Google Shape;214;p1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5" name="Google Shape;215;p1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3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4" hasCustomPrompt="1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5"/>
          </p:nvPr>
        </p:nvSpPr>
        <p:spPr>
          <a:xfrm>
            <a:off x="725560" y="18416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6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7" hasCustomPrompt="1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8"/>
          </p:nvPr>
        </p:nvSpPr>
        <p:spPr>
          <a:xfrm>
            <a:off x="725560" y="26637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9"/>
          </p:nvPr>
        </p:nvSpPr>
        <p:spPr>
          <a:xfrm>
            <a:off x="1407500" y="31798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13" hasCustomPrompt="1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4"/>
          </p:nvPr>
        </p:nvSpPr>
        <p:spPr>
          <a:xfrm>
            <a:off x="725560" y="35621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15"/>
          </p:nvPr>
        </p:nvSpPr>
        <p:spPr>
          <a:xfrm>
            <a:off x="1407500" y="40019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16" hasCustomPrompt="1"/>
          </p:nvPr>
        </p:nvSpPr>
        <p:spPr>
          <a:xfrm>
            <a:off x="718850" y="40019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7"/>
          </p:nvPr>
        </p:nvSpPr>
        <p:spPr>
          <a:xfrm>
            <a:off x="725560" y="43842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500" dirty="0"/>
              <a:t>Reaching a Consensus</a:t>
            </a:r>
            <a:endParaRPr sz="3100" dirty="0"/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3100" dirty="0"/>
              <a:t>Comparing RAFT and ZAB</a:t>
            </a:r>
            <a:endParaRPr sz="3100" dirty="0">
              <a:solidFill>
                <a:schemeClr val="accent1"/>
              </a:solidFill>
            </a:endParaRPr>
          </a:p>
        </p:txBody>
      </p:sp>
      <p:sp>
        <p:nvSpPr>
          <p:cNvPr id="666" name="Google Shape;666;p36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Project Presentation</a:t>
            </a:r>
            <a:endParaRPr lang="en" dirty="0">
              <a:solidFill>
                <a:schemeClr val="bg1"/>
              </a:solidFill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highlight>
                  <a:schemeClr val="dk1"/>
                </a:highlight>
              </a:rPr>
              <a:t>Distributed Systems: CSD438</a:t>
            </a:r>
            <a:endParaRPr lang="en" dirty="0"/>
          </a:p>
        </p:txBody>
      </p:sp>
      <p:grpSp>
        <p:nvGrpSpPr>
          <p:cNvPr id="667" name="Google Shape;667;p36"/>
          <p:cNvGrpSpPr/>
          <p:nvPr/>
        </p:nvGrpSpPr>
        <p:grpSpPr>
          <a:xfrm>
            <a:off x="7587247" y="2888719"/>
            <a:ext cx="378215" cy="598023"/>
            <a:chOff x="1654675" y="1997765"/>
            <a:chExt cx="445587" cy="704551"/>
          </a:xfrm>
        </p:grpSpPr>
        <p:sp>
          <p:nvSpPr>
            <p:cNvPr id="668" name="Google Shape;668;p36"/>
            <p:cNvSpPr/>
            <p:nvPr/>
          </p:nvSpPr>
          <p:spPr>
            <a:xfrm>
              <a:off x="1655926" y="1998979"/>
              <a:ext cx="440657" cy="703336"/>
            </a:xfrm>
            <a:custGeom>
              <a:avLst/>
              <a:gdLst/>
              <a:ahLst/>
              <a:cxnLst/>
              <a:rect l="l" t="t" r="r" b="b"/>
              <a:pathLst>
                <a:path w="11976" h="19115" extrusionOk="0">
                  <a:moveTo>
                    <a:pt x="0" y="1"/>
                  </a:moveTo>
                  <a:lnTo>
                    <a:pt x="0" y="17113"/>
                  </a:lnTo>
                  <a:lnTo>
                    <a:pt x="2002" y="17113"/>
                  </a:lnTo>
                  <a:lnTo>
                    <a:pt x="2002" y="16112"/>
                  </a:lnTo>
                  <a:lnTo>
                    <a:pt x="3002" y="16112"/>
                  </a:lnTo>
                  <a:lnTo>
                    <a:pt x="3002" y="15112"/>
                  </a:lnTo>
                  <a:lnTo>
                    <a:pt x="4003" y="15112"/>
                  </a:lnTo>
                  <a:lnTo>
                    <a:pt x="4003" y="14111"/>
                  </a:lnTo>
                  <a:lnTo>
                    <a:pt x="4971" y="14111"/>
                  </a:lnTo>
                  <a:lnTo>
                    <a:pt x="4971" y="16112"/>
                  </a:lnTo>
                  <a:lnTo>
                    <a:pt x="5971" y="16112"/>
                  </a:lnTo>
                  <a:lnTo>
                    <a:pt x="5971" y="18114"/>
                  </a:lnTo>
                  <a:lnTo>
                    <a:pt x="6972" y="18114"/>
                  </a:lnTo>
                  <a:lnTo>
                    <a:pt x="6972" y="19115"/>
                  </a:lnTo>
                  <a:lnTo>
                    <a:pt x="8973" y="19115"/>
                  </a:lnTo>
                  <a:lnTo>
                    <a:pt x="8973" y="18114"/>
                  </a:lnTo>
                  <a:lnTo>
                    <a:pt x="9974" y="18114"/>
                  </a:lnTo>
                  <a:lnTo>
                    <a:pt x="9974" y="16112"/>
                  </a:lnTo>
                  <a:lnTo>
                    <a:pt x="8973" y="16112"/>
                  </a:lnTo>
                  <a:lnTo>
                    <a:pt x="8973" y="14111"/>
                  </a:lnTo>
                  <a:lnTo>
                    <a:pt x="7973" y="14111"/>
                  </a:lnTo>
                  <a:lnTo>
                    <a:pt x="7973" y="13110"/>
                  </a:lnTo>
                  <a:lnTo>
                    <a:pt x="11976" y="13110"/>
                  </a:lnTo>
                  <a:lnTo>
                    <a:pt x="11976" y="12110"/>
                  </a:lnTo>
                  <a:lnTo>
                    <a:pt x="11976" y="11109"/>
                  </a:lnTo>
                  <a:lnTo>
                    <a:pt x="11042" y="11109"/>
                  </a:lnTo>
                  <a:lnTo>
                    <a:pt x="11042" y="11042"/>
                  </a:lnTo>
                  <a:lnTo>
                    <a:pt x="11042" y="10008"/>
                  </a:lnTo>
                  <a:lnTo>
                    <a:pt x="10041" y="10008"/>
                  </a:lnTo>
                  <a:lnTo>
                    <a:pt x="10041" y="9007"/>
                  </a:lnTo>
                  <a:lnTo>
                    <a:pt x="9040" y="9007"/>
                  </a:lnTo>
                  <a:lnTo>
                    <a:pt x="9040" y="8007"/>
                  </a:lnTo>
                  <a:lnTo>
                    <a:pt x="8039" y="8007"/>
                  </a:lnTo>
                  <a:lnTo>
                    <a:pt x="8039" y="7006"/>
                  </a:lnTo>
                  <a:lnTo>
                    <a:pt x="7039" y="7006"/>
                  </a:lnTo>
                  <a:lnTo>
                    <a:pt x="7039" y="6005"/>
                  </a:lnTo>
                  <a:lnTo>
                    <a:pt x="6038" y="6005"/>
                  </a:lnTo>
                  <a:lnTo>
                    <a:pt x="6038" y="5005"/>
                  </a:lnTo>
                  <a:lnTo>
                    <a:pt x="5037" y="5005"/>
                  </a:lnTo>
                  <a:lnTo>
                    <a:pt x="5037" y="4004"/>
                  </a:lnTo>
                  <a:lnTo>
                    <a:pt x="4037" y="4004"/>
                  </a:lnTo>
                  <a:lnTo>
                    <a:pt x="4037" y="3003"/>
                  </a:lnTo>
                  <a:lnTo>
                    <a:pt x="3036" y="3003"/>
                  </a:lnTo>
                  <a:lnTo>
                    <a:pt x="3036" y="2002"/>
                  </a:lnTo>
                  <a:lnTo>
                    <a:pt x="2035" y="2002"/>
                  </a:lnTo>
                  <a:lnTo>
                    <a:pt x="2035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1654675" y="1997765"/>
              <a:ext cx="36869" cy="628459"/>
            </a:xfrm>
            <a:custGeom>
              <a:avLst/>
              <a:gdLst/>
              <a:ahLst/>
              <a:cxnLst/>
              <a:rect l="l" t="t" r="r" b="b"/>
              <a:pathLst>
                <a:path w="1002" h="17080" extrusionOk="0">
                  <a:moveTo>
                    <a:pt x="1" y="1"/>
                  </a:moveTo>
                  <a:lnTo>
                    <a:pt x="1" y="17079"/>
                  </a:lnTo>
                  <a:lnTo>
                    <a:pt x="1002" y="1707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1692758" y="2034597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1729553" y="2072643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1765170" y="2109474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1803216" y="2146269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1841262" y="2183101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1878057" y="221993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191488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1951721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1988553" y="2330391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2025348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206217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1914889" y="2442064"/>
              <a:ext cx="185373" cy="36869"/>
            </a:xfrm>
            <a:custGeom>
              <a:avLst/>
              <a:gdLst/>
              <a:ahLst/>
              <a:cxnLst/>
              <a:rect l="l" t="t" r="r" b="b"/>
              <a:pathLst>
                <a:path w="5038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5038" y="1002"/>
                  </a:lnTo>
                  <a:lnTo>
                    <a:pt x="5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1914889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1803216" y="2478895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1841262" y="2515727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1878057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2" y="2002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1914889" y="2663017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1951721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1988553" y="258935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1765170" y="2515727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1729553" y="255255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1692758" y="2589354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7"/>
          <p:cNvSpPr txBox="1">
            <a:spLocks noGrp="1"/>
          </p:cNvSpPr>
          <p:nvPr>
            <p:ph type="title"/>
          </p:nvPr>
        </p:nvSpPr>
        <p:spPr>
          <a:xfrm>
            <a:off x="720000" y="5342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Consensus?</a:t>
            </a:r>
            <a:endParaRPr dirty="0"/>
          </a:p>
        </p:txBody>
      </p:sp>
      <p:sp>
        <p:nvSpPr>
          <p:cNvPr id="4" name="Google Shape;697;p37">
            <a:extLst>
              <a:ext uri="{FF2B5EF4-FFF2-40B4-BE49-F238E27FC236}">
                <a16:creationId xmlns:a16="http://schemas.microsoft.com/office/drawing/2014/main" id="{6B832345-584A-D5D8-99C3-0BBB88716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2136" y="1523134"/>
            <a:ext cx="8059727" cy="94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9812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- Consensus = agreement among distributed nodes on a single value or sequence of actions</a:t>
            </a:r>
          </a:p>
          <a:p>
            <a:pPr marL="198120" indent="0">
              <a:buNone/>
            </a:pPr>
            <a:endParaRPr lang="en-US" sz="1100" dirty="0">
              <a:solidFill>
                <a:schemeClr val="tx1"/>
              </a:solidFill>
            </a:endParaRPr>
          </a:p>
          <a:p>
            <a:pPr marL="19812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- Ensures the system behaves like one reliable machine despite crashes or message delays</a:t>
            </a:r>
          </a:p>
          <a:p>
            <a:pPr marL="198120" indent="0">
              <a:buNone/>
            </a:pPr>
            <a:endParaRPr lang="en-US" sz="1100" dirty="0">
              <a:solidFill>
                <a:schemeClr val="tx1"/>
              </a:solidFill>
            </a:endParaRPr>
          </a:p>
          <a:p>
            <a:pPr marL="19812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- Critical for replicated databases, config stores, and distributed coordination</a:t>
            </a: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Google Shape;697;p37">
            <a:extLst>
              <a:ext uri="{FF2B5EF4-FFF2-40B4-BE49-F238E27FC236}">
                <a16:creationId xmlns:a16="http://schemas.microsoft.com/office/drawing/2014/main" id="{83038F94-7B68-7517-FC9B-DF612BAA0D6C}"/>
              </a:ext>
            </a:extLst>
          </p:cNvPr>
          <p:cNvSpPr txBox="1">
            <a:spLocks/>
          </p:cNvSpPr>
          <p:nvPr/>
        </p:nvSpPr>
        <p:spPr>
          <a:xfrm>
            <a:off x="542136" y="2735653"/>
            <a:ext cx="8059727" cy="9411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59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Fira Code"/>
              <a:buAutoNum type="arabicPeriod"/>
              <a:defRPr sz="10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98120" indent="0" algn="ctr">
              <a:buNone/>
            </a:pPr>
            <a:r>
              <a:rPr lang="en-US" sz="1200" u="sng" dirty="0">
                <a:solidFill>
                  <a:schemeClr val="tx1"/>
                </a:solidFill>
              </a:rPr>
              <a:t>Two Key Properties:</a:t>
            </a:r>
          </a:p>
          <a:p>
            <a:pPr marL="369570" indent="-171450" algn="ctr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Safety: No two nodes ever decide different values</a:t>
            </a:r>
          </a:p>
          <a:p>
            <a:pPr marL="369570" indent="-171450" algn="ctr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Liveness: The system eventually reaches a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B5571-7F19-D517-EB19-74A589F58733}"/>
              </a:ext>
            </a:extLst>
          </p:cNvPr>
          <p:cNvSpPr txBox="1"/>
          <p:nvPr/>
        </p:nvSpPr>
        <p:spPr>
          <a:xfrm>
            <a:off x="760699" y="4134872"/>
            <a:ext cx="762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highlight>
                  <a:srgbClr val="000000"/>
                </a:highligh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Achieved through majority voting (quorums) to maintain overlap between decisions</a:t>
            </a:r>
            <a:endParaRPr lang="en-IN" sz="1200" dirty="0">
              <a:solidFill>
                <a:schemeClr val="bg1"/>
              </a:solidFill>
              <a:highlight>
                <a:srgbClr val="000000"/>
              </a:highligh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38"/>
          <p:cNvGrpSpPr/>
          <p:nvPr/>
        </p:nvGrpSpPr>
        <p:grpSpPr>
          <a:xfrm>
            <a:off x="7569329" y="186943"/>
            <a:ext cx="534466" cy="691809"/>
            <a:chOff x="2875937" y="1960933"/>
            <a:chExt cx="629673" cy="815044"/>
          </a:xfrm>
        </p:grpSpPr>
        <p:sp>
          <p:nvSpPr>
            <p:cNvPr id="718" name="Google Shape;718;p38"/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/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/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/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696;p37">
            <a:extLst>
              <a:ext uri="{FF2B5EF4-FFF2-40B4-BE49-F238E27FC236}">
                <a16:creationId xmlns:a16="http://schemas.microsoft.com/office/drawing/2014/main" id="{6F9E7A07-F4E6-729D-0DBA-22733F42D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RAFT: made for clarity and implementability</a:t>
            </a:r>
            <a:endParaRPr sz="3500" dirty="0"/>
          </a:p>
        </p:txBody>
      </p:sp>
      <p:sp>
        <p:nvSpPr>
          <p:cNvPr id="33" name="Google Shape;697;p37">
            <a:extLst>
              <a:ext uri="{FF2B5EF4-FFF2-40B4-BE49-F238E27FC236}">
                <a16:creationId xmlns:a16="http://schemas.microsoft.com/office/drawing/2014/main" id="{494B28E7-82F7-2A23-F3DE-1FF0CCCB2EDF}"/>
              </a:ext>
            </a:extLst>
          </p:cNvPr>
          <p:cNvSpPr txBox="1">
            <a:spLocks/>
          </p:cNvSpPr>
          <p:nvPr/>
        </p:nvSpPr>
        <p:spPr>
          <a:xfrm>
            <a:off x="3139440" y="1789833"/>
            <a:ext cx="5462423" cy="217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100" u="sng" dirty="0"/>
              <a:t>Key Components</a:t>
            </a:r>
          </a:p>
          <a:p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Leader Election: Random timeouts → candidate → majority votes → leader</a:t>
            </a:r>
          </a:p>
          <a:p>
            <a:pPr marL="139700" indent="0"/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Log Replication: Leader appends entries → replicates to followers → commit on majority</a:t>
            </a:r>
          </a:p>
          <a:p>
            <a:pPr>
              <a:buFontTx/>
              <a:buChar char="-"/>
            </a:pPr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Safety: No conflicting commits; leader contains all committed entries</a:t>
            </a:r>
          </a:p>
        </p:txBody>
      </p:sp>
      <p:sp>
        <p:nvSpPr>
          <p:cNvPr id="34" name="Google Shape;697;p37">
            <a:extLst>
              <a:ext uri="{FF2B5EF4-FFF2-40B4-BE49-F238E27FC236}">
                <a16:creationId xmlns:a16="http://schemas.microsoft.com/office/drawing/2014/main" id="{001F2594-E05A-9B88-FA0E-BC1D5E7AA8F0}"/>
              </a:ext>
            </a:extLst>
          </p:cNvPr>
          <p:cNvSpPr txBox="1">
            <a:spLocks/>
          </p:cNvSpPr>
          <p:nvPr/>
        </p:nvSpPr>
        <p:spPr>
          <a:xfrm>
            <a:off x="846937" y="1789833"/>
            <a:ext cx="1881024" cy="215361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59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Fira Code"/>
              <a:buAutoNum type="arabicPeriod"/>
              <a:defRPr sz="10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98120" indent="0">
              <a:buNone/>
            </a:pPr>
            <a:r>
              <a:rPr lang="en-US" sz="1200" u="sng" dirty="0">
                <a:solidFill>
                  <a:schemeClr val="tx1"/>
                </a:solidFill>
              </a:rPr>
              <a:t>Server States: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Leader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Follower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Candidate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CFFC05-33D6-FB6F-6392-9659AAFE216F}"/>
              </a:ext>
            </a:extLst>
          </p:cNvPr>
          <p:cNvSpPr txBox="1"/>
          <p:nvPr/>
        </p:nvSpPr>
        <p:spPr>
          <a:xfrm>
            <a:off x="760699" y="4401572"/>
            <a:ext cx="791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Purpose: Replicate a log consistently across servers, even with failures</a:t>
            </a:r>
            <a:endParaRPr lang="en-IN" sz="1200" dirty="0">
              <a:solidFill>
                <a:schemeClr val="bg1"/>
              </a:solidFill>
              <a:highlight>
                <a:srgbClr val="000000"/>
              </a:highligh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/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/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/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/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/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/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B25663A2-ED7F-A175-8C50-ACA412ED3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Implementation</a:t>
            </a:r>
            <a:endParaRPr sz="3500" dirty="0"/>
          </a:p>
        </p:txBody>
      </p:sp>
      <p:sp>
        <p:nvSpPr>
          <p:cNvPr id="11" name="Google Shape;927;p43">
            <a:extLst>
              <a:ext uri="{FF2B5EF4-FFF2-40B4-BE49-F238E27FC236}">
                <a16:creationId xmlns:a16="http://schemas.microsoft.com/office/drawing/2014/main" id="{CBB2400B-4EAD-357D-42C9-44146F26F587}"/>
              </a:ext>
            </a:extLst>
          </p:cNvPr>
          <p:cNvSpPr txBox="1">
            <a:spLocks/>
          </p:cNvSpPr>
          <p:nvPr/>
        </p:nvSpPr>
        <p:spPr>
          <a:xfrm>
            <a:off x="1601074" y="2656770"/>
            <a:ext cx="6344710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Heartbeat: 50ms intervals</a:t>
            </a:r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Election timeout: 150-300ms (randomized)</a:t>
            </a:r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RPC timeout: 100ms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Reset on: </a:t>
            </a:r>
            <a:r>
              <a:rPr lang="en-US" dirty="0" err="1"/>
              <a:t>AppendEntries</a:t>
            </a:r>
            <a:r>
              <a:rPr lang="en-US" dirty="0"/>
              <a:t> or </a:t>
            </a:r>
            <a:r>
              <a:rPr lang="en-US" dirty="0" err="1"/>
              <a:t>RequestVote</a:t>
            </a:r>
            <a:endParaRPr lang="en-US" dirty="0"/>
          </a:p>
        </p:txBody>
      </p:sp>
      <p:sp>
        <p:nvSpPr>
          <p:cNvPr id="12" name="Google Shape;928;p43">
            <a:extLst>
              <a:ext uri="{FF2B5EF4-FFF2-40B4-BE49-F238E27FC236}">
                <a16:creationId xmlns:a16="http://schemas.microsoft.com/office/drawing/2014/main" id="{5730781A-67F4-5FE4-D476-F3E3501C931F}"/>
              </a:ext>
            </a:extLst>
          </p:cNvPr>
          <p:cNvSpPr txBox="1">
            <a:spLocks/>
          </p:cNvSpPr>
          <p:nvPr/>
        </p:nvSpPr>
        <p:spPr>
          <a:xfrm>
            <a:off x="1236525" y="1811461"/>
            <a:ext cx="33906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Timing Parameters: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0AD76DC1-9786-484E-EDBB-C20F13CC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6FCB6DD0-E677-0B01-47B7-D9E5605C1348}"/>
              </a:ext>
            </a:extLst>
          </p:cNvPr>
          <p:cNvSpPr/>
          <p:nvPr/>
        </p:nvSpPr>
        <p:spPr>
          <a:xfrm>
            <a:off x="759175" y="609600"/>
            <a:ext cx="7625650" cy="418185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0A5FAA7A-BA95-FF2E-05A5-D45B3773652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76407" y="1766998"/>
            <a:ext cx="7065249" cy="24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1. Timeout fired → Follower becomes Candidate</a:t>
            </a:r>
          </a:p>
          <a:p>
            <a:endParaRPr lang="en-US" dirty="0"/>
          </a:p>
          <a:p>
            <a:r>
              <a:rPr lang="en-US" dirty="0"/>
              <a:t>2. Increment term, vote for self, reset timer</a:t>
            </a:r>
          </a:p>
          <a:p>
            <a:endParaRPr lang="en-US" dirty="0"/>
          </a:p>
          <a:p>
            <a:r>
              <a:rPr lang="en-US" dirty="0"/>
              <a:t>3. Send </a:t>
            </a:r>
            <a:r>
              <a:rPr lang="en-US" dirty="0" err="1"/>
              <a:t>RequestVote</a:t>
            </a:r>
            <a:r>
              <a:rPr lang="en-US" dirty="0"/>
              <a:t> RPCs in parallel to all peers</a:t>
            </a:r>
          </a:p>
          <a:p>
            <a:endParaRPr lang="en-US" dirty="0"/>
          </a:p>
          <a:p>
            <a:r>
              <a:rPr lang="en-US" dirty="0"/>
              <a:t>4. Vote granted if: candidate's log ≥ up-to-date as voter's log</a:t>
            </a:r>
          </a:p>
          <a:p>
            <a:endParaRPr lang="en-US" dirty="0"/>
          </a:p>
          <a:p>
            <a:r>
              <a:rPr lang="en-US" dirty="0"/>
              <a:t>5. Majority received → Become Leader, start heartbeats</a:t>
            </a:r>
          </a:p>
          <a:p>
            <a:endParaRPr lang="en-US" dirty="0"/>
          </a:p>
          <a:p>
            <a:r>
              <a:rPr lang="en-US" dirty="0"/>
              <a:t>6. Split vote → Timeout and restart with new random interval</a:t>
            </a:r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8690E863-B899-EF63-2C22-B65BDE9275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8163" y="916004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Election Process: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368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5247A1C8-65E9-7254-5E6A-5F198C34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BA1CBEBD-360D-D7DB-6536-031B267C45A6}"/>
              </a:ext>
            </a:extLst>
          </p:cNvPr>
          <p:cNvSpPr/>
          <p:nvPr/>
        </p:nvSpPr>
        <p:spPr>
          <a:xfrm>
            <a:off x="454375" y="761238"/>
            <a:ext cx="3946937" cy="386486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0D9E1CC2-5385-7CBA-D2F2-A85E1F8A4D1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71607" y="1747948"/>
            <a:ext cx="3390601" cy="24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Leader appends to own log</a:t>
            </a:r>
          </a:p>
          <a:p>
            <a:pPr>
              <a:buFontTx/>
              <a:buChar char="-"/>
            </a:pPr>
            <a:r>
              <a:rPr lang="en-US" dirty="0"/>
              <a:t>Sends </a:t>
            </a:r>
            <a:r>
              <a:rPr lang="en-US" dirty="0" err="1"/>
              <a:t>AppendEntries</a:t>
            </a:r>
            <a:r>
              <a:rPr lang="en-US" dirty="0"/>
              <a:t> to all followers</a:t>
            </a:r>
          </a:p>
          <a:p>
            <a:pPr>
              <a:buFontTx/>
              <a:buChar char="-"/>
            </a:pPr>
            <a:r>
              <a:rPr lang="en-US" dirty="0"/>
              <a:t>Tracks </a:t>
            </a:r>
            <a:r>
              <a:rPr lang="en-US" dirty="0" err="1"/>
              <a:t>match_idx</a:t>
            </a:r>
            <a:r>
              <a:rPr lang="en-US" dirty="0"/>
              <a:t> for each follower</a:t>
            </a:r>
          </a:p>
          <a:p>
            <a:pPr>
              <a:buFontTx/>
              <a:buChar char="-"/>
            </a:pPr>
            <a:r>
              <a:rPr lang="en-US" dirty="0"/>
              <a:t>Commits when replicated on majority</a:t>
            </a:r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F4447CAF-23A4-4B97-B14D-0EFC8FAE04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9939" y="1303048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 Replication:</a:t>
            </a:r>
            <a:endParaRPr dirty="0"/>
          </a:p>
        </p:txBody>
      </p:sp>
      <p:sp>
        <p:nvSpPr>
          <p:cNvPr id="2" name="Google Shape;925;p43">
            <a:extLst>
              <a:ext uri="{FF2B5EF4-FFF2-40B4-BE49-F238E27FC236}">
                <a16:creationId xmlns:a16="http://schemas.microsoft.com/office/drawing/2014/main" id="{6C668E2C-1E4D-70CD-F91B-C402E8F1B756}"/>
              </a:ext>
            </a:extLst>
          </p:cNvPr>
          <p:cNvSpPr/>
          <p:nvPr/>
        </p:nvSpPr>
        <p:spPr>
          <a:xfrm>
            <a:off x="4706352" y="761238"/>
            <a:ext cx="3946937" cy="386486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27;p43">
            <a:extLst>
              <a:ext uri="{FF2B5EF4-FFF2-40B4-BE49-F238E27FC236}">
                <a16:creationId xmlns:a16="http://schemas.microsoft.com/office/drawing/2014/main" id="{84A84DC4-9E0F-45E3-0AA1-17C4D52F1C55}"/>
              </a:ext>
            </a:extLst>
          </p:cNvPr>
          <p:cNvSpPr txBox="1">
            <a:spLocks/>
          </p:cNvSpPr>
          <p:nvPr/>
        </p:nvSpPr>
        <p:spPr>
          <a:xfrm>
            <a:off x="5023584" y="1747948"/>
            <a:ext cx="3390601" cy="24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Persistent: </a:t>
            </a:r>
            <a:r>
              <a:rPr lang="en-US" dirty="0" err="1"/>
              <a:t>current_term</a:t>
            </a:r>
            <a:r>
              <a:rPr lang="en-US" dirty="0"/>
              <a:t>, </a:t>
            </a:r>
            <a:r>
              <a:rPr lang="en-US" dirty="0" err="1"/>
              <a:t>voted_for</a:t>
            </a:r>
            <a:r>
              <a:rPr lang="en-US" dirty="0"/>
              <a:t>, logs[]</a:t>
            </a:r>
          </a:p>
          <a:p>
            <a:pPr>
              <a:buFontTx/>
              <a:buChar char="-"/>
            </a:pPr>
            <a:r>
              <a:rPr lang="en-US" dirty="0"/>
              <a:t>Volatile (all): </a:t>
            </a:r>
            <a:r>
              <a:rPr lang="en-US" dirty="0" err="1"/>
              <a:t>commit_idx</a:t>
            </a:r>
            <a:r>
              <a:rPr lang="en-US" dirty="0"/>
              <a:t>, </a:t>
            </a:r>
            <a:r>
              <a:rPr lang="en-US" dirty="0" err="1"/>
              <a:t>last_applied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Volatile (leader): </a:t>
            </a:r>
            <a:r>
              <a:rPr lang="en-US" dirty="0" err="1"/>
              <a:t>next_idx</a:t>
            </a:r>
            <a:r>
              <a:rPr lang="en-US" dirty="0"/>
              <a:t>[], </a:t>
            </a:r>
            <a:r>
              <a:rPr lang="en-US" dirty="0" err="1"/>
              <a:t>match_idx</a:t>
            </a:r>
            <a:r>
              <a:rPr lang="en-US" dirty="0"/>
              <a:t>[]</a:t>
            </a:r>
          </a:p>
          <a:p>
            <a:pPr>
              <a:buFontTx/>
              <a:buChar char="-"/>
            </a:pPr>
            <a:r>
              <a:rPr lang="en-US" dirty="0"/>
              <a:t>State machine: In-memory key-value store</a:t>
            </a:r>
          </a:p>
        </p:txBody>
      </p:sp>
      <p:sp>
        <p:nvSpPr>
          <p:cNvPr id="4" name="Google Shape;928;p43">
            <a:extLst>
              <a:ext uri="{FF2B5EF4-FFF2-40B4-BE49-F238E27FC236}">
                <a16:creationId xmlns:a16="http://schemas.microsoft.com/office/drawing/2014/main" id="{137D630D-7EE2-A5DA-216C-25F8188D2B84}"/>
              </a:ext>
            </a:extLst>
          </p:cNvPr>
          <p:cNvSpPr txBox="1">
            <a:spLocks/>
          </p:cNvSpPr>
          <p:nvPr/>
        </p:nvSpPr>
        <p:spPr>
          <a:xfrm>
            <a:off x="4841916" y="1303048"/>
            <a:ext cx="33906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State Management:</a:t>
            </a:r>
          </a:p>
        </p:txBody>
      </p:sp>
      <p:grpSp>
        <p:nvGrpSpPr>
          <p:cNvPr id="5" name="Google Shape;746;p39">
            <a:extLst>
              <a:ext uri="{FF2B5EF4-FFF2-40B4-BE49-F238E27FC236}">
                <a16:creationId xmlns:a16="http://schemas.microsoft.com/office/drawing/2014/main" id="{80A1B85B-8F63-C903-6811-D2B287CEA692}"/>
              </a:ext>
            </a:extLst>
          </p:cNvPr>
          <p:cNvGrpSpPr/>
          <p:nvPr/>
        </p:nvGrpSpPr>
        <p:grpSpPr>
          <a:xfrm>
            <a:off x="8232516" y="4327089"/>
            <a:ext cx="723042" cy="598023"/>
            <a:chOff x="1654675" y="4256126"/>
            <a:chExt cx="851841" cy="704551"/>
          </a:xfrm>
        </p:grpSpPr>
        <p:grpSp>
          <p:nvGrpSpPr>
            <p:cNvPr id="6" name="Google Shape;747;p39">
              <a:extLst>
                <a:ext uri="{FF2B5EF4-FFF2-40B4-BE49-F238E27FC236}">
                  <a16:creationId xmlns:a16="http://schemas.microsoft.com/office/drawing/2014/main" id="{64C1E2E0-DE7C-ABE3-F23A-F618E7D89E9E}"/>
                </a:ext>
              </a:extLst>
            </p:cNvPr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25" name="Google Shape;748;p39">
                <a:extLst>
                  <a:ext uri="{FF2B5EF4-FFF2-40B4-BE49-F238E27FC236}">
                    <a16:creationId xmlns:a16="http://schemas.microsoft.com/office/drawing/2014/main" id="{1ADEAF14-1007-1407-A856-8708F6990CCC}"/>
                  </a:ext>
                </a:extLst>
              </p:cNvPr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49;p39">
                <a:extLst>
                  <a:ext uri="{FF2B5EF4-FFF2-40B4-BE49-F238E27FC236}">
                    <a16:creationId xmlns:a16="http://schemas.microsoft.com/office/drawing/2014/main" id="{368BEDA5-8018-71AF-C804-8A3CFE3AF1F8}"/>
                  </a:ext>
                </a:extLst>
              </p:cNvPr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50;p39">
                <a:extLst>
                  <a:ext uri="{FF2B5EF4-FFF2-40B4-BE49-F238E27FC236}">
                    <a16:creationId xmlns:a16="http://schemas.microsoft.com/office/drawing/2014/main" id="{D82A27D1-3A4E-4E8E-68E9-F8093679332E}"/>
                  </a:ext>
                </a:extLst>
              </p:cNvPr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51;p39">
                <a:extLst>
                  <a:ext uri="{FF2B5EF4-FFF2-40B4-BE49-F238E27FC236}">
                    <a16:creationId xmlns:a16="http://schemas.microsoft.com/office/drawing/2014/main" id="{AB714A7F-DB29-ECCA-000E-1ED6BFB7A8DC}"/>
                  </a:ext>
                </a:extLst>
              </p:cNvPr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52;p39">
                <a:extLst>
                  <a:ext uri="{FF2B5EF4-FFF2-40B4-BE49-F238E27FC236}">
                    <a16:creationId xmlns:a16="http://schemas.microsoft.com/office/drawing/2014/main" id="{FD3AF064-BD12-D968-B128-D4D85326FD2F}"/>
                  </a:ext>
                </a:extLst>
              </p:cNvPr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53;p39">
                <a:extLst>
                  <a:ext uri="{FF2B5EF4-FFF2-40B4-BE49-F238E27FC236}">
                    <a16:creationId xmlns:a16="http://schemas.microsoft.com/office/drawing/2014/main" id="{BEE1A405-B895-7A97-4A80-B6E7D7C843AA}"/>
                  </a:ext>
                </a:extLst>
              </p:cNvPr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54;p39">
                <a:extLst>
                  <a:ext uri="{FF2B5EF4-FFF2-40B4-BE49-F238E27FC236}">
                    <a16:creationId xmlns:a16="http://schemas.microsoft.com/office/drawing/2014/main" id="{752D4C6F-C610-7367-34AC-8C2289B4C539}"/>
                  </a:ext>
                </a:extLst>
              </p:cNvPr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755;p39">
                <a:extLst>
                  <a:ext uri="{FF2B5EF4-FFF2-40B4-BE49-F238E27FC236}">
                    <a16:creationId xmlns:a16="http://schemas.microsoft.com/office/drawing/2014/main" id="{931951C8-62D8-2F01-C7FA-CB21CC443E98}"/>
                  </a:ext>
                </a:extLst>
              </p:cNvPr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56;p39">
                <a:extLst>
                  <a:ext uri="{FF2B5EF4-FFF2-40B4-BE49-F238E27FC236}">
                    <a16:creationId xmlns:a16="http://schemas.microsoft.com/office/drawing/2014/main" id="{03350736-D1CA-90D2-39F0-C7930F1BE90B}"/>
                  </a:ext>
                </a:extLst>
              </p:cNvPr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57;p39">
                <a:extLst>
                  <a:ext uri="{FF2B5EF4-FFF2-40B4-BE49-F238E27FC236}">
                    <a16:creationId xmlns:a16="http://schemas.microsoft.com/office/drawing/2014/main" id="{61BF8743-73B3-0A83-6F6A-E09B8862DFAC}"/>
                  </a:ext>
                </a:extLst>
              </p:cNvPr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758;p39">
                <a:extLst>
                  <a:ext uri="{FF2B5EF4-FFF2-40B4-BE49-F238E27FC236}">
                    <a16:creationId xmlns:a16="http://schemas.microsoft.com/office/drawing/2014/main" id="{4B3893C5-DE98-F6A1-32F7-E42BD7D87630}"/>
                  </a:ext>
                </a:extLst>
              </p:cNvPr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759;p39">
                <a:extLst>
                  <a:ext uri="{FF2B5EF4-FFF2-40B4-BE49-F238E27FC236}">
                    <a16:creationId xmlns:a16="http://schemas.microsoft.com/office/drawing/2014/main" id="{EA0A5FF1-39DA-A2B5-5D77-B6B76565B4F0}"/>
                  </a:ext>
                </a:extLst>
              </p:cNvPr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760;p39">
                <a:extLst>
                  <a:ext uri="{FF2B5EF4-FFF2-40B4-BE49-F238E27FC236}">
                    <a16:creationId xmlns:a16="http://schemas.microsoft.com/office/drawing/2014/main" id="{62174136-1D3F-FE59-FCFC-05EBD67FFCC0}"/>
                  </a:ext>
                </a:extLst>
              </p:cNvPr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761;p39">
                <a:extLst>
                  <a:ext uri="{FF2B5EF4-FFF2-40B4-BE49-F238E27FC236}">
                    <a16:creationId xmlns:a16="http://schemas.microsoft.com/office/drawing/2014/main" id="{83722FA1-81E7-2FC3-9A4D-A3433AD03690}"/>
                  </a:ext>
                </a:extLst>
              </p:cNvPr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762;p39">
                <a:extLst>
                  <a:ext uri="{FF2B5EF4-FFF2-40B4-BE49-F238E27FC236}">
                    <a16:creationId xmlns:a16="http://schemas.microsoft.com/office/drawing/2014/main" id="{281E0A16-8AE5-D9A9-CD70-E3C9EC71D9CC}"/>
                  </a:ext>
                </a:extLst>
              </p:cNvPr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763;p39">
                <a:extLst>
                  <a:ext uri="{FF2B5EF4-FFF2-40B4-BE49-F238E27FC236}">
                    <a16:creationId xmlns:a16="http://schemas.microsoft.com/office/drawing/2014/main" id="{EBA0B3AA-5E80-35CB-7AD9-A2499BE401F2}"/>
                  </a:ext>
                </a:extLst>
              </p:cNvPr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764;p39">
                <a:extLst>
                  <a:ext uri="{FF2B5EF4-FFF2-40B4-BE49-F238E27FC236}">
                    <a16:creationId xmlns:a16="http://schemas.microsoft.com/office/drawing/2014/main" id="{654049F0-0803-C5DC-5088-60742FA9AEC3}"/>
                  </a:ext>
                </a:extLst>
              </p:cNvPr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765;p39">
                <a:extLst>
                  <a:ext uri="{FF2B5EF4-FFF2-40B4-BE49-F238E27FC236}">
                    <a16:creationId xmlns:a16="http://schemas.microsoft.com/office/drawing/2014/main" id="{19B09BF0-9349-4520-17DC-A0453881433C}"/>
                  </a:ext>
                </a:extLst>
              </p:cNvPr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66;p39">
                <a:extLst>
                  <a:ext uri="{FF2B5EF4-FFF2-40B4-BE49-F238E27FC236}">
                    <a16:creationId xmlns:a16="http://schemas.microsoft.com/office/drawing/2014/main" id="{D58148A6-083B-F071-01A1-74968309B766}"/>
                  </a:ext>
                </a:extLst>
              </p:cNvPr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67;p39">
                <a:extLst>
                  <a:ext uri="{FF2B5EF4-FFF2-40B4-BE49-F238E27FC236}">
                    <a16:creationId xmlns:a16="http://schemas.microsoft.com/office/drawing/2014/main" id="{9227C44D-F78D-00F9-EAC8-6619E07A086C}"/>
                  </a:ext>
                </a:extLst>
              </p:cNvPr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68;p39">
                <a:extLst>
                  <a:ext uri="{FF2B5EF4-FFF2-40B4-BE49-F238E27FC236}">
                    <a16:creationId xmlns:a16="http://schemas.microsoft.com/office/drawing/2014/main" id="{D5EF5383-94D6-C01F-8E2A-57C877369234}"/>
                  </a:ext>
                </a:extLst>
              </p:cNvPr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69;p39">
                <a:extLst>
                  <a:ext uri="{FF2B5EF4-FFF2-40B4-BE49-F238E27FC236}">
                    <a16:creationId xmlns:a16="http://schemas.microsoft.com/office/drawing/2014/main" id="{A4101157-4C61-6B27-5B26-BAA62237A404}"/>
                  </a:ext>
                </a:extLst>
              </p:cNvPr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70;p39">
                <a:extLst>
                  <a:ext uri="{FF2B5EF4-FFF2-40B4-BE49-F238E27FC236}">
                    <a16:creationId xmlns:a16="http://schemas.microsoft.com/office/drawing/2014/main" id="{AA77049A-A3EA-6381-D29F-1E6939958960}"/>
                  </a:ext>
                </a:extLst>
              </p:cNvPr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71;p39">
                <a:extLst>
                  <a:ext uri="{FF2B5EF4-FFF2-40B4-BE49-F238E27FC236}">
                    <a16:creationId xmlns:a16="http://schemas.microsoft.com/office/drawing/2014/main" id="{0CD21EC9-A123-FCA6-19CB-45B4074A09CD}"/>
                  </a:ext>
                </a:extLst>
              </p:cNvPr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772;p39">
              <a:extLst>
                <a:ext uri="{FF2B5EF4-FFF2-40B4-BE49-F238E27FC236}">
                  <a16:creationId xmlns:a16="http://schemas.microsoft.com/office/drawing/2014/main" id="{6B8DDC3B-3070-0E8A-C33A-93C0BF0B2F1E}"/>
                </a:ext>
              </a:extLst>
            </p:cNvPr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8" name="Google Shape;773;p39">
                <a:extLst>
                  <a:ext uri="{FF2B5EF4-FFF2-40B4-BE49-F238E27FC236}">
                    <a16:creationId xmlns:a16="http://schemas.microsoft.com/office/drawing/2014/main" id="{75B233E8-D0FE-6411-9581-EE241AEB3F4D}"/>
                  </a:ext>
                </a:extLst>
              </p:cNvPr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74;p39">
                <a:extLst>
                  <a:ext uri="{FF2B5EF4-FFF2-40B4-BE49-F238E27FC236}">
                    <a16:creationId xmlns:a16="http://schemas.microsoft.com/office/drawing/2014/main" id="{AD9A8771-A9E8-04CE-A452-0A8FC58CA4C2}"/>
                  </a:ext>
                </a:extLst>
              </p:cNvPr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75;p39">
                <a:extLst>
                  <a:ext uri="{FF2B5EF4-FFF2-40B4-BE49-F238E27FC236}">
                    <a16:creationId xmlns:a16="http://schemas.microsoft.com/office/drawing/2014/main" id="{7BF7EF8F-D1F2-C30D-EE44-9540350ACC73}"/>
                  </a:ext>
                </a:extLst>
              </p:cNvPr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76;p39">
                <a:extLst>
                  <a:ext uri="{FF2B5EF4-FFF2-40B4-BE49-F238E27FC236}">
                    <a16:creationId xmlns:a16="http://schemas.microsoft.com/office/drawing/2014/main" id="{7CFFDC4A-3CD1-87EE-C3B0-A16E5463205F}"/>
                  </a:ext>
                </a:extLst>
              </p:cNvPr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777;p39">
                <a:extLst>
                  <a:ext uri="{FF2B5EF4-FFF2-40B4-BE49-F238E27FC236}">
                    <a16:creationId xmlns:a16="http://schemas.microsoft.com/office/drawing/2014/main" id="{2577E3EC-F045-4B88-FD52-F87F74E75ADE}"/>
                  </a:ext>
                </a:extLst>
              </p:cNvPr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78;p39">
                <a:extLst>
                  <a:ext uri="{FF2B5EF4-FFF2-40B4-BE49-F238E27FC236}">
                    <a16:creationId xmlns:a16="http://schemas.microsoft.com/office/drawing/2014/main" id="{12CA5947-6553-B32D-380F-FDD394A8C8C4}"/>
                  </a:ext>
                </a:extLst>
              </p:cNvPr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779;p39">
                <a:extLst>
                  <a:ext uri="{FF2B5EF4-FFF2-40B4-BE49-F238E27FC236}">
                    <a16:creationId xmlns:a16="http://schemas.microsoft.com/office/drawing/2014/main" id="{2264F4AC-760E-F2EC-CD17-55C5CBBB9582}"/>
                  </a:ext>
                </a:extLst>
              </p:cNvPr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80;p39">
                <a:extLst>
                  <a:ext uri="{FF2B5EF4-FFF2-40B4-BE49-F238E27FC236}">
                    <a16:creationId xmlns:a16="http://schemas.microsoft.com/office/drawing/2014/main" id="{74467FB7-1268-03AC-2C1B-CD6433054C66}"/>
                  </a:ext>
                </a:extLst>
              </p:cNvPr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81;p39">
                <a:extLst>
                  <a:ext uri="{FF2B5EF4-FFF2-40B4-BE49-F238E27FC236}">
                    <a16:creationId xmlns:a16="http://schemas.microsoft.com/office/drawing/2014/main" id="{CA88753D-4F8A-DF9C-CB61-952E05EEB55C}"/>
                  </a:ext>
                </a:extLst>
              </p:cNvPr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82;p39">
                <a:extLst>
                  <a:ext uri="{FF2B5EF4-FFF2-40B4-BE49-F238E27FC236}">
                    <a16:creationId xmlns:a16="http://schemas.microsoft.com/office/drawing/2014/main" id="{4D1DBAEE-9983-1CF4-9783-7093F0715058}"/>
                  </a:ext>
                </a:extLst>
              </p:cNvPr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83;p39">
                <a:extLst>
                  <a:ext uri="{FF2B5EF4-FFF2-40B4-BE49-F238E27FC236}">
                    <a16:creationId xmlns:a16="http://schemas.microsoft.com/office/drawing/2014/main" id="{E3196126-2F13-5F1C-FC08-2B45F18115F8}"/>
                  </a:ext>
                </a:extLst>
              </p:cNvPr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84;p39">
                <a:extLst>
                  <a:ext uri="{FF2B5EF4-FFF2-40B4-BE49-F238E27FC236}">
                    <a16:creationId xmlns:a16="http://schemas.microsoft.com/office/drawing/2014/main" id="{3E7E8430-5E88-33B7-724B-C5453F4BB8CF}"/>
                  </a:ext>
                </a:extLst>
              </p:cNvPr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85;p39">
                <a:extLst>
                  <a:ext uri="{FF2B5EF4-FFF2-40B4-BE49-F238E27FC236}">
                    <a16:creationId xmlns:a16="http://schemas.microsoft.com/office/drawing/2014/main" id="{1E657E1E-AAED-62B9-A515-94874ADE5F15}"/>
                  </a:ext>
                </a:extLst>
              </p:cNvPr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86;p39">
                <a:extLst>
                  <a:ext uri="{FF2B5EF4-FFF2-40B4-BE49-F238E27FC236}">
                    <a16:creationId xmlns:a16="http://schemas.microsoft.com/office/drawing/2014/main" id="{2D0297E8-82D4-DCD7-38D0-0DEAD90F2E6B}"/>
                  </a:ext>
                </a:extLst>
              </p:cNvPr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87;p39">
                <a:extLst>
                  <a:ext uri="{FF2B5EF4-FFF2-40B4-BE49-F238E27FC236}">
                    <a16:creationId xmlns:a16="http://schemas.microsoft.com/office/drawing/2014/main" id="{D20B90D1-ED20-C585-A0E1-98F8DEF2AFB7}"/>
                  </a:ext>
                </a:extLst>
              </p:cNvPr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88;p39">
                <a:extLst>
                  <a:ext uri="{FF2B5EF4-FFF2-40B4-BE49-F238E27FC236}">
                    <a16:creationId xmlns:a16="http://schemas.microsoft.com/office/drawing/2014/main" id="{3BD5010C-4C0F-3E19-E539-86AAB4CFFE9F}"/>
                  </a:ext>
                </a:extLst>
              </p:cNvPr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89;p39">
                <a:extLst>
                  <a:ext uri="{FF2B5EF4-FFF2-40B4-BE49-F238E27FC236}">
                    <a16:creationId xmlns:a16="http://schemas.microsoft.com/office/drawing/2014/main" id="{F8E39A88-85CC-672C-EB01-DC37AF9417FB}"/>
                  </a:ext>
                </a:extLst>
              </p:cNvPr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378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F81752D7-34F7-BD69-2470-85D2FE41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38">
            <a:extLst>
              <a:ext uri="{FF2B5EF4-FFF2-40B4-BE49-F238E27FC236}">
                <a16:creationId xmlns:a16="http://schemas.microsoft.com/office/drawing/2014/main" id="{78C762AB-472C-79C4-E5EA-3C1DDA842125}"/>
              </a:ext>
            </a:extLst>
          </p:cNvPr>
          <p:cNvGrpSpPr/>
          <p:nvPr/>
        </p:nvGrpSpPr>
        <p:grpSpPr>
          <a:xfrm>
            <a:off x="7957949" y="176063"/>
            <a:ext cx="534466" cy="691809"/>
            <a:chOff x="2875937" y="1960933"/>
            <a:chExt cx="629673" cy="815044"/>
          </a:xfrm>
        </p:grpSpPr>
        <p:sp>
          <p:nvSpPr>
            <p:cNvPr id="718" name="Google Shape;718;p38">
              <a:extLst>
                <a:ext uri="{FF2B5EF4-FFF2-40B4-BE49-F238E27FC236}">
                  <a16:creationId xmlns:a16="http://schemas.microsoft.com/office/drawing/2014/main" id="{EBEEE217-C1D1-7DBE-EE5A-FD64ACA59736}"/>
                </a:ext>
              </a:extLst>
            </p:cNvPr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>
              <a:extLst>
                <a:ext uri="{FF2B5EF4-FFF2-40B4-BE49-F238E27FC236}">
                  <a16:creationId xmlns:a16="http://schemas.microsoft.com/office/drawing/2014/main" id="{55796519-AFCE-2C91-8C9D-7CE5843FCBFE}"/>
                </a:ext>
              </a:extLst>
            </p:cNvPr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>
              <a:extLst>
                <a:ext uri="{FF2B5EF4-FFF2-40B4-BE49-F238E27FC236}">
                  <a16:creationId xmlns:a16="http://schemas.microsoft.com/office/drawing/2014/main" id="{FEDB781B-F03B-B3FC-B753-1827AE0A9921}"/>
                </a:ext>
              </a:extLst>
            </p:cNvPr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>
              <a:extLst>
                <a:ext uri="{FF2B5EF4-FFF2-40B4-BE49-F238E27FC236}">
                  <a16:creationId xmlns:a16="http://schemas.microsoft.com/office/drawing/2014/main" id="{F37927A4-5D51-BE6D-7384-59CBB73E8667}"/>
                </a:ext>
              </a:extLst>
            </p:cNvPr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>
              <a:extLst>
                <a:ext uri="{FF2B5EF4-FFF2-40B4-BE49-F238E27FC236}">
                  <a16:creationId xmlns:a16="http://schemas.microsoft.com/office/drawing/2014/main" id="{5B2FEEF2-DEFC-DEF2-DA44-FEB6ADBA30E7}"/>
                </a:ext>
              </a:extLst>
            </p:cNvPr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>
              <a:extLst>
                <a:ext uri="{FF2B5EF4-FFF2-40B4-BE49-F238E27FC236}">
                  <a16:creationId xmlns:a16="http://schemas.microsoft.com/office/drawing/2014/main" id="{565A7E2B-1DF9-7ADE-5BB8-7E0E205E7A9D}"/>
                </a:ext>
              </a:extLst>
            </p:cNvPr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>
              <a:extLst>
                <a:ext uri="{FF2B5EF4-FFF2-40B4-BE49-F238E27FC236}">
                  <a16:creationId xmlns:a16="http://schemas.microsoft.com/office/drawing/2014/main" id="{B007A1BD-9C0D-5B87-E1FB-4D6D4018498D}"/>
                </a:ext>
              </a:extLst>
            </p:cNvPr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>
              <a:extLst>
                <a:ext uri="{FF2B5EF4-FFF2-40B4-BE49-F238E27FC236}">
                  <a16:creationId xmlns:a16="http://schemas.microsoft.com/office/drawing/2014/main" id="{D67C14D5-EDE6-524B-3E0A-044E2C73129A}"/>
                </a:ext>
              </a:extLst>
            </p:cNvPr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>
              <a:extLst>
                <a:ext uri="{FF2B5EF4-FFF2-40B4-BE49-F238E27FC236}">
                  <a16:creationId xmlns:a16="http://schemas.microsoft.com/office/drawing/2014/main" id="{2E5D9E4A-270A-78AC-0C16-676FEEB2A754}"/>
                </a:ext>
              </a:extLst>
            </p:cNvPr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>
              <a:extLst>
                <a:ext uri="{FF2B5EF4-FFF2-40B4-BE49-F238E27FC236}">
                  <a16:creationId xmlns:a16="http://schemas.microsoft.com/office/drawing/2014/main" id="{54ED3CA3-D344-A386-A2A1-902807632270}"/>
                </a:ext>
              </a:extLst>
            </p:cNvPr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>
              <a:extLst>
                <a:ext uri="{FF2B5EF4-FFF2-40B4-BE49-F238E27FC236}">
                  <a16:creationId xmlns:a16="http://schemas.microsoft.com/office/drawing/2014/main" id="{C7EBC906-6D2F-B361-A0DF-AF60E1763B0D}"/>
                </a:ext>
              </a:extLst>
            </p:cNvPr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>
              <a:extLst>
                <a:ext uri="{FF2B5EF4-FFF2-40B4-BE49-F238E27FC236}">
                  <a16:creationId xmlns:a16="http://schemas.microsoft.com/office/drawing/2014/main" id="{CEE82448-C1A7-6290-CF43-656AA27355CB}"/>
                </a:ext>
              </a:extLst>
            </p:cNvPr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>
              <a:extLst>
                <a:ext uri="{FF2B5EF4-FFF2-40B4-BE49-F238E27FC236}">
                  <a16:creationId xmlns:a16="http://schemas.microsoft.com/office/drawing/2014/main" id="{757A4E5B-6616-88E4-D24F-E973EFCB48BA}"/>
                </a:ext>
              </a:extLst>
            </p:cNvPr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7B4A0CDB-D0C8-4A42-31F5-EFC0B798E6A1}"/>
                </a:ext>
              </a:extLst>
            </p:cNvPr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D783AEA5-E4C5-403A-353D-98457586616C}"/>
                </a:ext>
              </a:extLst>
            </p:cNvPr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A733E2F9-8AB0-43A1-3A81-C6015CAC6534}"/>
                </a:ext>
              </a:extLst>
            </p:cNvPr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B983049B-5129-2038-4EAE-29ED82573461}"/>
                </a:ext>
              </a:extLst>
            </p:cNvPr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5267602B-8521-6103-66BB-FDDDD6BE5DA6}"/>
                </a:ext>
              </a:extLst>
            </p:cNvPr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6A6CB789-AA0B-F196-C19C-D2966D6923DC}"/>
                </a:ext>
              </a:extLst>
            </p:cNvPr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6C211194-E33C-F378-0049-B628F4F8D67A}"/>
                </a:ext>
              </a:extLst>
            </p:cNvPr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33F7ABE3-8DD3-30B0-5C04-A0F8D595F8D6}"/>
                </a:ext>
              </a:extLst>
            </p:cNvPr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2CCF5FAF-0D7E-15FD-2A72-13872F8F3202}"/>
                </a:ext>
              </a:extLst>
            </p:cNvPr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696;p37">
            <a:extLst>
              <a:ext uri="{FF2B5EF4-FFF2-40B4-BE49-F238E27FC236}">
                <a16:creationId xmlns:a16="http://schemas.microsoft.com/office/drawing/2014/main" id="{122346A2-02EC-5C9C-AD70-13420E03E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ZAB: Zookeeper Atomic Broadcast</a:t>
            </a:r>
            <a:endParaRPr sz="3500" dirty="0"/>
          </a:p>
        </p:txBody>
      </p:sp>
      <p:sp>
        <p:nvSpPr>
          <p:cNvPr id="33" name="Google Shape;697;p37">
            <a:extLst>
              <a:ext uri="{FF2B5EF4-FFF2-40B4-BE49-F238E27FC236}">
                <a16:creationId xmlns:a16="http://schemas.microsoft.com/office/drawing/2014/main" id="{337EF918-2E18-A6EF-0178-159ECD8EEF08}"/>
              </a:ext>
            </a:extLst>
          </p:cNvPr>
          <p:cNvSpPr txBox="1">
            <a:spLocks/>
          </p:cNvSpPr>
          <p:nvPr/>
        </p:nvSpPr>
        <p:spPr>
          <a:xfrm>
            <a:off x="4572000" y="1789833"/>
            <a:ext cx="4029863" cy="217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100" u="sng" dirty="0"/>
              <a:t>Guarantees</a:t>
            </a:r>
          </a:p>
          <a:p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Total order: All servers deliver transactions in same sequence</a:t>
            </a:r>
          </a:p>
          <a:p>
            <a:pPr marL="139700" indent="0"/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Prefix consistency: No unacknowledged transactions committed</a:t>
            </a:r>
          </a:p>
          <a:p>
            <a:pPr>
              <a:buFontTx/>
              <a:buChar char="-"/>
            </a:pPr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Leader stability: Leader never commits from previous epoch</a:t>
            </a:r>
          </a:p>
        </p:txBody>
      </p:sp>
      <p:sp>
        <p:nvSpPr>
          <p:cNvPr id="34" name="Google Shape;697;p37">
            <a:extLst>
              <a:ext uri="{FF2B5EF4-FFF2-40B4-BE49-F238E27FC236}">
                <a16:creationId xmlns:a16="http://schemas.microsoft.com/office/drawing/2014/main" id="{D1E724C1-4364-9E51-8018-917CAAE39892}"/>
              </a:ext>
            </a:extLst>
          </p:cNvPr>
          <p:cNvSpPr txBox="1">
            <a:spLocks/>
          </p:cNvSpPr>
          <p:nvPr/>
        </p:nvSpPr>
        <p:spPr>
          <a:xfrm>
            <a:off x="859128" y="1573581"/>
            <a:ext cx="3395881" cy="256903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59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Fira Code"/>
              <a:buAutoNum type="arabicPeriod"/>
              <a:defRPr sz="10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98120" indent="0">
              <a:buNone/>
            </a:pPr>
            <a:r>
              <a:rPr lang="en-US" sz="1200" u="sng" dirty="0">
                <a:solidFill>
                  <a:schemeClr val="tx1"/>
                </a:solidFill>
              </a:rPr>
              <a:t>System Model: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One Leader, multiple Followers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All writes by Leader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ZXID prefixes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Recovery and Broadcast Phases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B551EE-5549-2869-CAC0-36AF9DDB97D4}"/>
              </a:ext>
            </a:extLst>
          </p:cNvPr>
          <p:cNvSpPr txBox="1"/>
          <p:nvPr/>
        </p:nvSpPr>
        <p:spPr>
          <a:xfrm>
            <a:off x="1472433" y="4403525"/>
            <a:ext cx="619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Ensures consistent, totally ordered broadcast of updates</a:t>
            </a:r>
            <a:endParaRPr lang="en-IN" sz="1200" dirty="0">
              <a:solidFill>
                <a:schemeClr val="bg1"/>
              </a:solidFill>
              <a:highlight>
                <a:srgbClr val="000000"/>
              </a:highligh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70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BB8B39A6-9584-C9C4-40F1-D72472BE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C13DBBDC-376A-70CD-41DC-B8E1A5C7F0AA}"/>
              </a:ext>
            </a:extLst>
          </p:cNvPr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6310BEB5-D495-9B16-3A27-10C45FF27CE2}"/>
              </a:ext>
            </a:extLst>
          </p:cNvPr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81377809-3DA2-08C6-3DEE-643D0B679C91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27698EF1-8F41-B452-74B5-51BC5AC9088D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6D3C69DE-9493-E31E-8240-18B753DED3B0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FEEE9D31-D148-1B51-F19A-EABF2E23B3B4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C6780F76-74B4-17E3-7B0A-952325BE1E06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97B9FFF3-1DE0-FA41-C8CF-FD007E386BB9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80ACADB5-00EB-6805-7B0A-75FAF1DB6385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D1ACD5E4-508F-0B12-9BC8-FD920BA19B6B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64177F5C-4D3C-EBA6-D9A8-9A2884AE2099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11C52B3D-654F-3161-9F72-FE2496A5C288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A42EB35D-C87D-F2BF-0B83-E8693217573B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0AF96ED5-8A0A-B4E0-5B51-D2159C94D4CE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D0870E87-DF37-B9FB-62F9-1BAB8193BF33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1CC6AD52-C449-1409-DC1E-907684DC9577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3890A483-30F3-34C5-FF0F-49FBD5B00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Implementation</a:t>
            </a:r>
            <a:endParaRPr sz="3500" dirty="0"/>
          </a:p>
        </p:txBody>
      </p:sp>
      <p:sp>
        <p:nvSpPr>
          <p:cNvPr id="11" name="Google Shape;927;p43">
            <a:extLst>
              <a:ext uri="{FF2B5EF4-FFF2-40B4-BE49-F238E27FC236}">
                <a16:creationId xmlns:a16="http://schemas.microsoft.com/office/drawing/2014/main" id="{F44CEB27-C1FE-FAB9-23F0-4CE6704147AD}"/>
              </a:ext>
            </a:extLst>
          </p:cNvPr>
          <p:cNvSpPr txBox="1">
            <a:spLocks/>
          </p:cNvSpPr>
          <p:nvPr/>
        </p:nvSpPr>
        <p:spPr>
          <a:xfrm>
            <a:off x="1601074" y="2730507"/>
            <a:ext cx="6344710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IN" dirty="0"/>
              <a:t>States: LOOKING, FOLLOWING, LEADING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ZXID: (epoch &lt;&lt; 32) | counter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Epochs: </a:t>
            </a:r>
            <a:r>
              <a:rPr lang="en-IN" dirty="0" err="1"/>
              <a:t>accepted_epoch</a:t>
            </a:r>
            <a:r>
              <a:rPr lang="en-IN" dirty="0"/>
              <a:t>, </a:t>
            </a:r>
            <a:r>
              <a:rPr lang="en-IN" dirty="0" err="1"/>
              <a:t>current_epoch</a:t>
            </a:r>
            <a:endParaRPr lang="en-IN" dirty="0"/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Transactions: (</a:t>
            </a:r>
            <a:r>
              <a:rPr lang="en-IN" dirty="0" err="1"/>
              <a:t>zxid</a:t>
            </a:r>
            <a:r>
              <a:rPr lang="en-IN" dirty="0"/>
              <a:t>, key, value) tuples</a:t>
            </a:r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r>
              <a:rPr lang="en-IN" dirty="0"/>
              <a:t>Tracking: </a:t>
            </a:r>
            <a:r>
              <a:rPr lang="en-IN" dirty="0" err="1"/>
              <a:t>last_zxid</a:t>
            </a:r>
            <a:r>
              <a:rPr lang="en-IN" dirty="0"/>
              <a:t>, </a:t>
            </a:r>
            <a:r>
              <a:rPr lang="en-IN" dirty="0" err="1"/>
              <a:t>last_committed</a:t>
            </a:r>
            <a:endParaRPr lang="en-IN" dirty="0"/>
          </a:p>
        </p:txBody>
      </p:sp>
      <p:sp>
        <p:nvSpPr>
          <p:cNvPr id="12" name="Google Shape;928;p43">
            <a:extLst>
              <a:ext uri="{FF2B5EF4-FFF2-40B4-BE49-F238E27FC236}">
                <a16:creationId xmlns:a16="http://schemas.microsoft.com/office/drawing/2014/main" id="{0F99F697-2710-C40B-0091-2F832F3E9DA0}"/>
              </a:ext>
            </a:extLst>
          </p:cNvPr>
          <p:cNvSpPr txBox="1">
            <a:spLocks/>
          </p:cNvSpPr>
          <p:nvPr/>
        </p:nvSpPr>
        <p:spPr>
          <a:xfrm>
            <a:off x="1017068" y="1582245"/>
            <a:ext cx="3945075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State, ZXID Management</a:t>
            </a:r>
          </a:p>
        </p:txBody>
      </p:sp>
    </p:spTree>
    <p:extLst>
      <p:ext uri="{BB962C8B-B14F-4D97-AF65-F5344CB8AC3E}">
        <p14:creationId xmlns:p14="http://schemas.microsoft.com/office/powerpoint/2010/main" val="3212876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F3F1F9EE-4201-4C91-CA6C-59C0EA32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97DE67FD-2738-B6B5-9FE5-3765E9B27834}"/>
              </a:ext>
            </a:extLst>
          </p:cNvPr>
          <p:cNvSpPr/>
          <p:nvPr/>
        </p:nvSpPr>
        <p:spPr>
          <a:xfrm>
            <a:off x="759175" y="609600"/>
            <a:ext cx="7625650" cy="418185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E9EBD6E5-8610-426B-F7C8-B55F6A9A2F0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76407" y="1766998"/>
            <a:ext cx="7065249" cy="24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Propose Phase:</a:t>
            </a:r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/>
              <a:t>Leader increments counter in current epoch</a:t>
            </a:r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Creates new ZXID = (epoch &lt;&lt; 32) | counter</a:t>
            </a:r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Applies to local state machine (optimistic)</a:t>
            </a:r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Broadcasts </a:t>
            </a:r>
            <a:r>
              <a:rPr lang="en-US" dirty="0" err="1"/>
              <a:t>ProposeTransaction</a:t>
            </a:r>
            <a:r>
              <a:rPr lang="en-US" dirty="0"/>
              <a:t> to all followers</a:t>
            </a:r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AE0CA49A-CC7B-90BB-4EA1-BBBF223B93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8162" y="916004"/>
            <a:ext cx="4372205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/>
              <a:t>Transaction Broadcasting</a:t>
            </a:r>
            <a:r>
              <a:rPr lang="en" dirty="0"/>
              <a:t>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59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EEF8C0A0-B217-B91A-4758-E940DD59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8FF5DB74-41BE-F9F7-54DF-47235384F124}"/>
              </a:ext>
            </a:extLst>
          </p:cNvPr>
          <p:cNvSpPr/>
          <p:nvPr/>
        </p:nvSpPr>
        <p:spPr>
          <a:xfrm>
            <a:off x="454375" y="761238"/>
            <a:ext cx="3946937" cy="386486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D99CFE5F-DF0E-4019-D3DA-9E63108AECA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71607" y="1747948"/>
            <a:ext cx="3390601" cy="24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Followers append to transaction log and ACK</a:t>
            </a:r>
          </a:p>
          <a:p>
            <a:pPr>
              <a:buFontTx/>
              <a:buChar char="-"/>
            </a:pPr>
            <a:r>
              <a:rPr lang="en-US" dirty="0"/>
              <a:t>Leader broadcasts </a:t>
            </a:r>
            <a:r>
              <a:rPr lang="en-US" dirty="0" err="1"/>
              <a:t>CommitTransaction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All nodes apply to state machine</a:t>
            </a:r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78F91058-81E5-9892-3BEA-1F1AFBCD62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9939" y="1303048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Commit Phase:</a:t>
            </a:r>
            <a:endParaRPr dirty="0"/>
          </a:p>
        </p:txBody>
      </p:sp>
      <p:sp>
        <p:nvSpPr>
          <p:cNvPr id="2" name="Google Shape;925;p43">
            <a:extLst>
              <a:ext uri="{FF2B5EF4-FFF2-40B4-BE49-F238E27FC236}">
                <a16:creationId xmlns:a16="http://schemas.microsoft.com/office/drawing/2014/main" id="{D3F79026-A324-296C-87FA-AAAC8F092F3A}"/>
              </a:ext>
            </a:extLst>
          </p:cNvPr>
          <p:cNvSpPr/>
          <p:nvPr/>
        </p:nvSpPr>
        <p:spPr>
          <a:xfrm>
            <a:off x="4706352" y="761238"/>
            <a:ext cx="3946937" cy="386486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27;p43">
            <a:extLst>
              <a:ext uri="{FF2B5EF4-FFF2-40B4-BE49-F238E27FC236}">
                <a16:creationId xmlns:a16="http://schemas.microsoft.com/office/drawing/2014/main" id="{4C9467FC-52CE-DD11-25E5-D3FCF0471E6E}"/>
              </a:ext>
            </a:extLst>
          </p:cNvPr>
          <p:cNvSpPr txBox="1">
            <a:spLocks/>
          </p:cNvSpPr>
          <p:nvPr/>
        </p:nvSpPr>
        <p:spPr>
          <a:xfrm>
            <a:off x="5023584" y="1747948"/>
            <a:ext cx="3390601" cy="24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Enter LOOKING state on timeout</a:t>
            </a:r>
          </a:p>
          <a:p>
            <a:pPr>
              <a:buFontTx/>
              <a:buChar char="-"/>
            </a:pPr>
            <a:r>
              <a:rPr lang="en-US" dirty="0"/>
              <a:t>Exchange FLE messages with peers</a:t>
            </a:r>
          </a:p>
          <a:p>
            <a:pPr>
              <a:buFontTx/>
              <a:buChar char="-"/>
            </a:pPr>
            <a:r>
              <a:rPr lang="en-US" dirty="0"/>
              <a:t>Update vote if better proposal seen</a:t>
            </a:r>
          </a:p>
          <a:p>
            <a:pPr>
              <a:buFontTx/>
              <a:buChar char="-"/>
            </a:pPr>
            <a:r>
              <a:rPr lang="en-US" dirty="0"/>
              <a:t>Majority agreement → leader elected</a:t>
            </a:r>
          </a:p>
          <a:p>
            <a:pPr>
              <a:buFontTx/>
              <a:buChar char="-"/>
            </a:pPr>
            <a:r>
              <a:rPr lang="en-US" dirty="0"/>
              <a:t>New epoch established</a:t>
            </a:r>
          </a:p>
        </p:txBody>
      </p:sp>
      <p:sp>
        <p:nvSpPr>
          <p:cNvPr id="4" name="Google Shape;928;p43">
            <a:extLst>
              <a:ext uri="{FF2B5EF4-FFF2-40B4-BE49-F238E27FC236}">
                <a16:creationId xmlns:a16="http://schemas.microsoft.com/office/drawing/2014/main" id="{24A0714C-8DD0-F639-9392-D3D235D632B1}"/>
              </a:ext>
            </a:extLst>
          </p:cNvPr>
          <p:cNvSpPr txBox="1">
            <a:spLocks/>
          </p:cNvSpPr>
          <p:nvPr/>
        </p:nvSpPr>
        <p:spPr>
          <a:xfrm>
            <a:off x="4841916" y="1303048"/>
            <a:ext cx="33906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Recovery Phase:</a:t>
            </a:r>
          </a:p>
        </p:txBody>
      </p:sp>
      <p:grpSp>
        <p:nvGrpSpPr>
          <p:cNvPr id="5" name="Google Shape;746;p39">
            <a:extLst>
              <a:ext uri="{FF2B5EF4-FFF2-40B4-BE49-F238E27FC236}">
                <a16:creationId xmlns:a16="http://schemas.microsoft.com/office/drawing/2014/main" id="{AA4466CC-3869-5B24-9469-21928C190349}"/>
              </a:ext>
            </a:extLst>
          </p:cNvPr>
          <p:cNvGrpSpPr/>
          <p:nvPr/>
        </p:nvGrpSpPr>
        <p:grpSpPr>
          <a:xfrm>
            <a:off x="8232516" y="4327089"/>
            <a:ext cx="723042" cy="598023"/>
            <a:chOff x="1654675" y="4256126"/>
            <a:chExt cx="851841" cy="704551"/>
          </a:xfrm>
        </p:grpSpPr>
        <p:grpSp>
          <p:nvGrpSpPr>
            <p:cNvPr id="6" name="Google Shape;747;p39">
              <a:extLst>
                <a:ext uri="{FF2B5EF4-FFF2-40B4-BE49-F238E27FC236}">
                  <a16:creationId xmlns:a16="http://schemas.microsoft.com/office/drawing/2014/main" id="{8AFDD74B-1D0E-8305-2331-DAFEE6D71ACA}"/>
                </a:ext>
              </a:extLst>
            </p:cNvPr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25" name="Google Shape;748;p39">
                <a:extLst>
                  <a:ext uri="{FF2B5EF4-FFF2-40B4-BE49-F238E27FC236}">
                    <a16:creationId xmlns:a16="http://schemas.microsoft.com/office/drawing/2014/main" id="{82F8BB63-2BC3-3CDC-8DF9-7A91D1C5E378}"/>
                  </a:ext>
                </a:extLst>
              </p:cNvPr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49;p39">
                <a:extLst>
                  <a:ext uri="{FF2B5EF4-FFF2-40B4-BE49-F238E27FC236}">
                    <a16:creationId xmlns:a16="http://schemas.microsoft.com/office/drawing/2014/main" id="{7FB8482A-D999-6AC1-083E-318DC2AF8680}"/>
                  </a:ext>
                </a:extLst>
              </p:cNvPr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50;p39">
                <a:extLst>
                  <a:ext uri="{FF2B5EF4-FFF2-40B4-BE49-F238E27FC236}">
                    <a16:creationId xmlns:a16="http://schemas.microsoft.com/office/drawing/2014/main" id="{5D7C50B2-9394-15B3-B107-2F4291AE65F2}"/>
                  </a:ext>
                </a:extLst>
              </p:cNvPr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51;p39">
                <a:extLst>
                  <a:ext uri="{FF2B5EF4-FFF2-40B4-BE49-F238E27FC236}">
                    <a16:creationId xmlns:a16="http://schemas.microsoft.com/office/drawing/2014/main" id="{0E65EEDA-A4A4-8CDF-99E1-BF5008D1F50F}"/>
                  </a:ext>
                </a:extLst>
              </p:cNvPr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52;p39">
                <a:extLst>
                  <a:ext uri="{FF2B5EF4-FFF2-40B4-BE49-F238E27FC236}">
                    <a16:creationId xmlns:a16="http://schemas.microsoft.com/office/drawing/2014/main" id="{958ECDC9-7329-16E3-F006-1F9A9C944D9C}"/>
                  </a:ext>
                </a:extLst>
              </p:cNvPr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53;p39">
                <a:extLst>
                  <a:ext uri="{FF2B5EF4-FFF2-40B4-BE49-F238E27FC236}">
                    <a16:creationId xmlns:a16="http://schemas.microsoft.com/office/drawing/2014/main" id="{C6A1FE98-41F0-0277-C843-7141238AA7D4}"/>
                  </a:ext>
                </a:extLst>
              </p:cNvPr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54;p39">
                <a:extLst>
                  <a:ext uri="{FF2B5EF4-FFF2-40B4-BE49-F238E27FC236}">
                    <a16:creationId xmlns:a16="http://schemas.microsoft.com/office/drawing/2014/main" id="{183EADEF-AC19-42D1-5BD4-E7F2197B5E1E}"/>
                  </a:ext>
                </a:extLst>
              </p:cNvPr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755;p39">
                <a:extLst>
                  <a:ext uri="{FF2B5EF4-FFF2-40B4-BE49-F238E27FC236}">
                    <a16:creationId xmlns:a16="http://schemas.microsoft.com/office/drawing/2014/main" id="{7669EB48-4036-8320-E393-88C567381A16}"/>
                  </a:ext>
                </a:extLst>
              </p:cNvPr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56;p39">
                <a:extLst>
                  <a:ext uri="{FF2B5EF4-FFF2-40B4-BE49-F238E27FC236}">
                    <a16:creationId xmlns:a16="http://schemas.microsoft.com/office/drawing/2014/main" id="{442E71C0-7331-954B-496D-16915790C96E}"/>
                  </a:ext>
                </a:extLst>
              </p:cNvPr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57;p39">
                <a:extLst>
                  <a:ext uri="{FF2B5EF4-FFF2-40B4-BE49-F238E27FC236}">
                    <a16:creationId xmlns:a16="http://schemas.microsoft.com/office/drawing/2014/main" id="{68C6B149-1AC1-91B2-4716-411B38A38D5C}"/>
                  </a:ext>
                </a:extLst>
              </p:cNvPr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758;p39">
                <a:extLst>
                  <a:ext uri="{FF2B5EF4-FFF2-40B4-BE49-F238E27FC236}">
                    <a16:creationId xmlns:a16="http://schemas.microsoft.com/office/drawing/2014/main" id="{AFF3A879-84B5-DE54-A028-F7023DE4FB06}"/>
                  </a:ext>
                </a:extLst>
              </p:cNvPr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759;p39">
                <a:extLst>
                  <a:ext uri="{FF2B5EF4-FFF2-40B4-BE49-F238E27FC236}">
                    <a16:creationId xmlns:a16="http://schemas.microsoft.com/office/drawing/2014/main" id="{AC40E3F3-8906-F377-A37A-89330EAF3C84}"/>
                  </a:ext>
                </a:extLst>
              </p:cNvPr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760;p39">
                <a:extLst>
                  <a:ext uri="{FF2B5EF4-FFF2-40B4-BE49-F238E27FC236}">
                    <a16:creationId xmlns:a16="http://schemas.microsoft.com/office/drawing/2014/main" id="{5DDF4DAC-A33E-3658-BA44-700D9A9D0427}"/>
                  </a:ext>
                </a:extLst>
              </p:cNvPr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761;p39">
                <a:extLst>
                  <a:ext uri="{FF2B5EF4-FFF2-40B4-BE49-F238E27FC236}">
                    <a16:creationId xmlns:a16="http://schemas.microsoft.com/office/drawing/2014/main" id="{2E4285F5-7546-5896-DA28-67FB5D81511B}"/>
                  </a:ext>
                </a:extLst>
              </p:cNvPr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762;p39">
                <a:extLst>
                  <a:ext uri="{FF2B5EF4-FFF2-40B4-BE49-F238E27FC236}">
                    <a16:creationId xmlns:a16="http://schemas.microsoft.com/office/drawing/2014/main" id="{88104571-1DCB-37CC-1E2C-811763BBB0BC}"/>
                  </a:ext>
                </a:extLst>
              </p:cNvPr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763;p39">
                <a:extLst>
                  <a:ext uri="{FF2B5EF4-FFF2-40B4-BE49-F238E27FC236}">
                    <a16:creationId xmlns:a16="http://schemas.microsoft.com/office/drawing/2014/main" id="{26BE4ECA-3A55-0F9E-A5D3-0E4CCB74D98B}"/>
                  </a:ext>
                </a:extLst>
              </p:cNvPr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764;p39">
                <a:extLst>
                  <a:ext uri="{FF2B5EF4-FFF2-40B4-BE49-F238E27FC236}">
                    <a16:creationId xmlns:a16="http://schemas.microsoft.com/office/drawing/2014/main" id="{9433B203-2705-AD40-8F88-6AD44F58546A}"/>
                  </a:ext>
                </a:extLst>
              </p:cNvPr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765;p39">
                <a:extLst>
                  <a:ext uri="{FF2B5EF4-FFF2-40B4-BE49-F238E27FC236}">
                    <a16:creationId xmlns:a16="http://schemas.microsoft.com/office/drawing/2014/main" id="{098BFC50-AF77-22BC-7805-163D556777EE}"/>
                  </a:ext>
                </a:extLst>
              </p:cNvPr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66;p39">
                <a:extLst>
                  <a:ext uri="{FF2B5EF4-FFF2-40B4-BE49-F238E27FC236}">
                    <a16:creationId xmlns:a16="http://schemas.microsoft.com/office/drawing/2014/main" id="{7AFDE66B-8B1D-E751-F087-16B8CB47F3E6}"/>
                  </a:ext>
                </a:extLst>
              </p:cNvPr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67;p39">
                <a:extLst>
                  <a:ext uri="{FF2B5EF4-FFF2-40B4-BE49-F238E27FC236}">
                    <a16:creationId xmlns:a16="http://schemas.microsoft.com/office/drawing/2014/main" id="{10FA9DC9-5286-E1E3-179C-461CDC48CD8C}"/>
                  </a:ext>
                </a:extLst>
              </p:cNvPr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68;p39">
                <a:extLst>
                  <a:ext uri="{FF2B5EF4-FFF2-40B4-BE49-F238E27FC236}">
                    <a16:creationId xmlns:a16="http://schemas.microsoft.com/office/drawing/2014/main" id="{4D418395-B4F0-8884-6527-1DF0F394769E}"/>
                  </a:ext>
                </a:extLst>
              </p:cNvPr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69;p39">
                <a:extLst>
                  <a:ext uri="{FF2B5EF4-FFF2-40B4-BE49-F238E27FC236}">
                    <a16:creationId xmlns:a16="http://schemas.microsoft.com/office/drawing/2014/main" id="{75944EEA-CB14-F62F-1217-78B88D6CB34D}"/>
                  </a:ext>
                </a:extLst>
              </p:cNvPr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70;p39">
                <a:extLst>
                  <a:ext uri="{FF2B5EF4-FFF2-40B4-BE49-F238E27FC236}">
                    <a16:creationId xmlns:a16="http://schemas.microsoft.com/office/drawing/2014/main" id="{758AD524-222F-756D-10BB-67F0F2128F1A}"/>
                  </a:ext>
                </a:extLst>
              </p:cNvPr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71;p39">
                <a:extLst>
                  <a:ext uri="{FF2B5EF4-FFF2-40B4-BE49-F238E27FC236}">
                    <a16:creationId xmlns:a16="http://schemas.microsoft.com/office/drawing/2014/main" id="{344AA90C-392D-E66E-C76E-D1A578EAFE49}"/>
                  </a:ext>
                </a:extLst>
              </p:cNvPr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772;p39">
              <a:extLst>
                <a:ext uri="{FF2B5EF4-FFF2-40B4-BE49-F238E27FC236}">
                  <a16:creationId xmlns:a16="http://schemas.microsoft.com/office/drawing/2014/main" id="{70CA5F6C-5FEA-E60D-BD02-61637B63F784}"/>
                </a:ext>
              </a:extLst>
            </p:cNvPr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8" name="Google Shape;773;p39">
                <a:extLst>
                  <a:ext uri="{FF2B5EF4-FFF2-40B4-BE49-F238E27FC236}">
                    <a16:creationId xmlns:a16="http://schemas.microsoft.com/office/drawing/2014/main" id="{79396709-8FE0-4EA6-C904-F3F0168D4FFB}"/>
                  </a:ext>
                </a:extLst>
              </p:cNvPr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74;p39">
                <a:extLst>
                  <a:ext uri="{FF2B5EF4-FFF2-40B4-BE49-F238E27FC236}">
                    <a16:creationId xmlns:a16="http://schemas.microsoft.com/office/drawing/2014/main" id="{E73F429B-FDF5-36B5-301F-2947262CFBC6}"/>
                  </a:ext>
                </a:extLst>
              </p:cNvPr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75;p39">
                <a:extLst>
                  <a:ext uri="{FF2B5EF4-FFF2-40B4-BE49-F238E27FC236}">
                    <a16:creationId xmlns:a16="http://schemas.microsoft.com/office/drawing/2014/main" id="{56418868-1D1C-14B4-139A-AF2EB2D0EAA8}"/>
                  </a:ext>
                </a:extLst>
              </p:cNvPr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76;p39">
                <a:extLst>
                  <a:ext uri="{FF2B5EF4-FFF2-40B4-BE49-F238E27FC236}">
                    <a16:creationId xmlns:a16="http://schemas.microsoft.com/office/drawing/2014/main" id="{15CEBF73-9EEE-2B64-C19C-ED1D0E5A32E1}"/>
                  </a:ext>
                </a:extLst>
              </p:cNvPr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777;p39">
                <a:extLst>
                  <a:ext uri="{FF2B5EF4-FFF2-40B4-BE49-F238E27FC236}">
                    <a16:creationId xmlns:a16="http://schemas.microsoft.com/office/drawing/2014/main" id="{70F59EC8-2868-F6A7-3E8E-FCB2348C091E}"/>
                  </a:ext>
                </a:extLst>
              </p:cNvPr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78;p39">
                <a:extLst>
                  <a:ext uri="{FF2B5EF4-FFF2-40B4-BE49-F238E27FC236}">
                    <a16:creationId xmlns:a16="http://schemas.microsoft.com/office/drawing/2014/main" id="{4F747502-782B-B928-0061-36FC9994C564}"/>
                  </a:ext>
                </a:extLst>
              </p:cNvPr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779;p39">
                <a:extLst>
                  <a:ext uri="{FF2B5EF4-FFF2-40B4-BE49-F238E27FC236}">
                    <a16:creationId xmlns:a16="http://schemas.microsoft.com/office/drawing/2014/main" id="{2777DE03-DAF7-5DBB-36BB-E282A173F0B1}"/>
                  </a:ext>
                </a:extLst>
              </p:cNvPr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80;p39">
                <a:extLst>
                  <a:ext uri="{FF2B5EF4-FFF2-40B4-BE49-F238E27FC236}">
                    <a16:creationId xmlns:a16="http://schemas.microsoft.com/office/drawing/2014/main" id="{E8C26403-DAE5-61A5-5E36-F48CD05F7A13}"/>
                  </a:ext>
                </a:extLst>
              </p:cNvPr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81;p39">
                <a:extLst>
                  <a:ext uri="{FF2B5EF4-FFF2-40B4-BE49-F238E27FC236}">
                    <a16:creationId xmlns:a16="http://schemas.microsoft.com/office/drawing/2014/main" id="{9C5BE18A-7255-D97A-8E33-ABBD3995D12F}"/>
                  </a:ext>
                </a:extLst>
              </p:cNvPr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82;p39">
                <a:extLst>
                  <a:ext uri="{FF2B5EF4-FFF2-40B4-BE49-F238E27FC236}">
                    <a16:creationId xmlns:a16="http://schemas.microsoft.com/office/drawing/2014/main" id="{3D9B7D34-13A0-F866-A686-A18CA9388BE6}"/>
                  </a:ext>
                </a:extLst>
              </p:cNvPr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83;p39">
                <a:extLst>
                  <a:ext uri="{FF2B5EF4-FFF2-40B4-BE49-F238E27FC236}">
                    <a16:creationId xmlns:a16="http://schemas.microsoft.com/office/drawing/2014/main" id="{B1314493-9007-C3FC-EEE0-62749FB55606}"/>
                  </a:ext>
                </a:extLst>
              </p:cNvPr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84;p39">
                <a:extLst>
                  <a:ext uri="{FF2B5EF4-FFF2-40B4-BE49-F238E27FC236}">
                    <a16:creationId xmlns:a16="http://schemas.microsoft.com/office/drawing/2014/main" id="{9FA49DB6-B379-0CBC-83D2-4857330AAB7D}"/>
                  </a:ext>
                </a:extLst>
              </p:cNvPr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85;p39">
                <a:extLst>
                  <a:ext uri="{FF2B5EF4-FFF2-40B4-BE49-F238E27FC236}">
                    <a16:creationId xmlns:a16="http://schemas.microsoft.com/office/drawing/2014/main" id="{A74C569E-1A41-9B78-9DC5-D0E0585DC4E3}"/>
                  </a:ext>
                </a:extLst>
              </p:cNvPr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86;p39">
                <a:extLst>
                  <a:ext uri="{FF2B5EF4-FFF2-40B4-BE49-F238E27FC236}">
                    <a16:creationId xmlns:a16="http://schemas.microsoft.com/office/drawing/2014/main" id="{290A833D-A843-103D-EEA4-90D468058C19}"/>
                  </a:ext>
                </a:extLst>
              </p:cNvPr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87;p39">
                <a:extLst>
                  <a:ext uri="{FF2B5EF4-FFF2-40B4-BE49-F238E27FC236}">
                    <a16:creationId xmlns:a16="http://schemas.microsoft.com/office/drawing/2014/main" id="{B1EFAA8B-7529-4D88-FDD8-0D4B858BFF02}"/>
                  </a:ext>
                </a:extLst>
              </p:cNvPr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88;p39">
                <a:extLst>
                  <a:ext uri="{FF2B5EF4-FFF2-40B4-BE49-F238E27FC236}">
                    <a16:creationId xmlns:a16="http://schemas.microsoft.com/office/drawing/2014/main" id="{89CAEE2D-3F4A-1842-DE49-F47637A2C03B}"/>
                  </a:ext>
                </a:extLst>
              </p:cNvPr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89;p39">
                <a:extLst>
                  <a:ext uri="{FF2B5EF4-FFF2-40B4-BE49-F238E27FC236}">
                    <a16:creationId xmlns:a16="http://schemas.microsoft.com/office/drawing/2014/main" id="{107042CB-A0C6-7F4F-935E-ED751C433F45}"/>
                  </a:ext>
                </a:extLst>
              </p:cNvPr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241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B2AAC54D-56BF-119C-0CCC-EADEA54D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38">
            <a:extLst>
              <a:ext uri="{FF2B5EF4-FFF2-40B4-BE49-F238E27FC236}">
                <a16:creationId xmlns:a16="http://schemas.microsoft.com/office/drawing/2014/main" id="{514C0F4C-3E58-5B0A-C917-B7EF542E6DCB}"/>
              </a:ext>
            </a:extLst>
          </p:cNvPr>
          <p:cNvGrpSpPr/>
          <p:nvPr/>
        </p:nvGrpSpPr>
        <p:grpSpPr>
          <a:xfrm>
            <a:off x="7569329" y="186943"/>
            <a:ext cx="534466" cy="691809"/>
            <a:chOff x="2875937" y="1960933"/>
            <a:chExt cx="629673" cy="815044"/>
          </a:xfrm>
        </p:grpSpPr>
        <p:sp>
          <p:nvSpPr>
            <p:cNvPr id="718" name="Google Shape;718;p38">
              <a:extLst>
                <a:ext uri="{FF2B5EF4-FFF2-40B4-BE49-F238E27FC236}">
                  <a16:creationId xmlns:a16="http://schemas.microsoft.com/office/drawing/2014/main" id="{AFD191FB-DF15-ACAE-D8C9-5AACB820A796}"/>
                </a:ext>
              </a:extLst>
            </p:cNvPr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>
              <a:extLst>
                <a:ext uri="{FF2B5EF4-FFF2-40B4-BE49-F238E27FC236}">
                  <a16:creationId xmlns:a16="http://schemas.microsoft.com/office/drawing/2014/main" id="{44C007A7-9969-26FB-3625-B820C5136C28}"/>
                </a:ext>
              </a:extLst>
            </p:cNvPr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>
              <a:extLst>
                <a:ext uri="{FF2B5EF4-FFF2-40B4-BE49-F238E27FC236}">
                  <a16:creationId xmlns:a16="http://schemas.microsoft.com/office/drawing/2014/main" id="{0C30DF63-9093-37CB-BC07-D36189FC6941}"/>
                </a:ext>
              </a:extLst>
            </p:cNvPr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>
              <a:extLst>
                <a:ext uri="{FF2B5EF4-FFF2-40B4-BE49-F238E27FC236}">
                  <a16:creationId xmlns:a16="http://schemas.microsoft.com/office/drawing/2014/main" id="{96DFB5EB-57FD-68C9-E516-2071251BAAD5}"/>
                </a:ext>
              </a:extLst>
            </p:cNvPr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>
              <a:extLst>
                <a:ext uri="{FF2B5EF4-FFF2-40B4-BE49-F238E27FC236}">
                  <a16:creationId xmlns:a16="http://schemas.microsoft.com/office/drawing/2014/main" id="{0239FEBA-C80F-B4E3-F71C-5EA4CB88911B}"/>
                </a:ext>
              </a:extLst>
            </p:cNvPr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>
              <a:extLst>
                <a:ext uri="{FF2B5EF4-FFF2-40B4-BE49-F238E27FC236}">
                  <a16:creationId xmlns:a16="http://schemas.microsoft.com/office/drawing/2014/main" id="{4D74927E-02A3-7A0C-C3C1-400DC18A5C4A}"/>
                </a:ext>
              </a:extLst>
            </p:cNvPr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>
              <a:extLst>
                <a:ext uri="{FF2B5EF4-FFF2-40B4-BE49-F238E27FC236}">
                  <a16:creationId xmlns:a16="http://schemas.microsoft.com/office/drawing/2014/main" id="{A18AB33C-39C0-65DC-2903-1405D1B65668}"/>
                </a:ext>
              </a:extLst>
            </p:cNvPr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>
              <a:extLst>
                <a:ext uri="{FF2B5EF4-FFF2-40B4-BE49-F238E27FC236}">
                  <a16:creationId xmlns:a16="http://schemas.microsoft.com/office/drawing/2014/main" id="{D7C0519B-AB1C-29D6-829D-8384A283FD09}"/>
                </a:ext>
              </a:extLst>
            </p:cNvPr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>
              <a:extLst>
                <a:ext uri="{FF2B5EF4-FFF2-40B4-BE49-F238E27FC236}">
                  <a16:creationId xmlns:a16="http://schemas.microsoft.com/office/drawing/2014/main" id="{639B9536-6DC0-2BDC-B2A4-9ECC70A97A8A}"/>
                </a:ext>
              </a:extLst>
            </p:cNvPr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>
              <a:extLst>
                <a:ext uri="{FF2B5EF4-FFF2-40B4-BE49-F238E27FC236}">
                  <a16:creationId xmlns:a16="http://schemas.microsoft.com/office/drawing/2014/main" id="{F9FC2AAB-63A8-571B-E651-2C405FB1CE63}"/>
                </a:ext>
              </a:extLst>
            </p:cNvPr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>
              <a:extLst>
                <a:ext uri="{FF2B5EF4-FFF2-40B4-BE49-F238E27FC236}">
                  <a16:creationId xmlns:a16="http://schemas.microsoft.com/office/drawing/2014/main" id="{F5F464B1-57FD-F898-46BE-A7D12750C28D}"/>
                </a:ext>
              </a:extLst>
            </p:cNvPr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>
              <a:extLst>
                <a:ext uri="{FF2B5EF4-FFF2-40B4-BE49-F238E27FC236}">
                  <a16:creationId xmlns:a16="http://schemas.microsoft.com/office/drawing/2014/main" id="{68AEA294-C64C-BA83-8BE6-7348E94B4E3E}"/>
                </a:ext>
              </a:extLst>
            </p:cNvPr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>
              <a:extLst>
                <a:ext uri="{FF2B5EF4-FFF2-40B4-BE49-F238E27FC236}">
                  <a16:creationId xmlns:a16="http://schemas.microsoft.com/office/drawing/2014/main" id="{DC704959-59D1-CCE8-B0FA-3CAD6B146409}"/>
                </a:ext>
              </a:extLst>
            </p:cNvPr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989B260F-48FA-2880-0F8D-E989FAFCDA7A}"/>
                </a:ext>
              </a:extLst>
            </p:cNvPr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EAC1C3D6-5449-CD30-54AA-527BBCC6E4A7}"/>
                </a:ext>
              </a:extLst>
            </p:cNvPr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153FA4C7-FCFA-0552-F32C-8935666DDCFD}"/>
                </a:ext>
              </a:extLst>
            </p:cNvPr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D11A80F3-85C2-0FA3-42E8-0F535E949632}"/>
                </a:ext>
              </a:extLst>
            </p:cNvPr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BC3C6250-9446-CD53-3C61-877D1640E2C3}"/>
                </a:ext>
              </a:extLst>
            </p:cNvPr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46C3A889-E546-798E-940C-72E9B918E14D}"/>
                </a:ext>
              </a:extLst>
            </p:cNvPr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53FA5BA8-DA3C-6895-141A-4FA1CAA7AA49}"/>
                </a:ext>
              </a:extLst>
            </p:cNvPr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9F18F005-F5B4-1CBC-BD01-533C8A5B95B9}"/>
                </a:ext>
              </a:extLst>
            </p:cNvPr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1EA88273-73F0-2147-60D5-80CCEDE77715}"/>
                </a:ext>
              </a:extLst>
            </p:cNvPr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697;p37">
            <a:extLst>
              <a:ext uri="{FF2B5EF4-FFF2-40B4-BE49-F238E27FC236}">
                <a16:creationId xmlns:a16="http://schemas.microsoft.com/office/drawing/2014/main" id="{E570BB1F-CACB-1ADD-C8B2-B40DAE0B84A7}"/>
              </a:ext>
            </a:extLst>
          </p:cNvPr>
          <p:cNvSpPr txBox="1">
            <a:spLocks/>
          </p:cNvSpPr>
          <p:nvPr/>
        </p:nvSpPr>
        <p:spPr>
          <a:xfrm>
            <a:off x="4535185" y="1536113"/>
            <a:ext cx="3761878" cy="2915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IN" dirty="0"/>
              <a:t>Vote format: (</a:t>
            </a:r>
            <a:r>
              <a:rPr lang="en-IN" dirty="0" err="1"/>
              <a:t>node_id</a:t>
            </a:r>
            <a:r>
              <a:rPr lang="en-IN" dirty="0"/>
              <a:t>, epoch, </a:t>
            </a:r>
            <a:r>
              <a:rPr lang="en-IN" dirty="0" err="1"/>
              <a:t>zxid</a:t>
            </a:r>
            <a:r>
              <a:rPr lang="en-IN" dirty="0"/>
              <a:t>, state)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Comparison: Higher epoch wins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Tie-break 1: Higher </a:t>
            </a:r>
            <a:r>
              <a:rPr lang="en-IN" dirty="0" err="1"/>
              <a:t>zxid</a:t>
            </a:r>
            <a:r>
              <a:rPr lang="en-IN" dirty="0"/>
              <a:t> wins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Tie-break 2: Higher </a:t>
            </a:r>
            <a:r>
              <a:rPr lang="en-IN" dirty="0" err="1"/>
              <a:t>node_id</a:t>
            </a:r>
            <a:r>
              <a:rPr lang="en-IN" dirty="0"/>
              <a:t> wins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Timeout: 150-300ms randomized</a:t>
            </a:r>
          </a:p>
        </p:txBody>
      </p:sp>
      <p:sp>
        <p:nvSpPr>
          <p:cNvPr id="34" name="Google Shape;697;p37">
            <a:extLst>
              <a:ext uri="{FF2B5EF4-FFF2-40B4-BE49-F238E27FC236}">
                <a16:creationId xmlns:a16="http://schemas.microsoft.com/office/drawing/2014/main" id="{0279607A-B576-1375-7DB4-2A16B08E2E13}"/>
              </a:ext>
            </a:extLst>
          </p:cNvPr>
          <p:cNvSpPr txBox="1">
            <a:spLocks/>
          </p:cNvSpPr>
          <p:nvPr/>
        </p:nvSpPr>
        <p:spPr>
          <a:xfrm>
            <a:off x="846936" y="782872"/>
            <a:ext cx="3437209" cy="385008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59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Fira Code"/>
              <a:buAutoNum type="arabicPeriod"/>
              <a:defRPr sz="10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98120" indent="0">
              <a:buNone/>
            </a:pPr>
            <a:r>
              <a:rPr lang="en-US" sz="1500" u="sng" dirty="0">
                <a:solidFill>
                  <a:schemeClr val="tx1"/>
                </a:solidFill>
              </a:rPr>
              <a:t>State and ZXID:</a:t>
            </a:r>
          </a:p>
          <a:p>
            <a:pPr marL="198120" indent="0">
              <a:buNone/>
            </a:pPr>
            <a:r>
              <a:rPr lang="en-IN" sz="1500" dirty="0"/>
              <a:t>- States: LOOKING, FOLLOWING, LEADING</a:t>
            </a:r>
          </a:p>
          <a:p>
            <a:pPr marL="198120" indent="0">
              <a:buNone/>
            </a:pPr>
            <a:r>
              <a:rPr lang="en-IN" sz="1500" dirty="0"/>
              <a:t>- ZXID: (epoch &lt;&lt; 32) | counter</a:t>
            </a:r>
          </a:p>
          <a:p>
            <a:pPr marL="198120" indent="0">
              <a:buNone/>
            </a:pPr>
            <a:r>
              <a:rPr lang="en-IN" sz="1500" dirty="0"/>
              <a:t>- Epochs: </a:t>
            </a:r>
            <a:r>
              <a:rPr lang="en-IN" sz="1500" dirty="0" err="1"/>
              <a:t>accepted_epoch</a:t>
            </a:r>
            <a:r>
              <a:rPr lang="en-IN" sz="1500" dirty="0"/>
              <a:t>, </a:t>
            </a:r>
            <a:r>
              <a:rPr lang="en-IN" sz="1500" dirty="0" err="1"/>
              <a:t>current_epoch</a:t>
            </a:r>
            <a:endParaRPr lang="en-IN" sz="1500" dirty="0"/>
          </a:p>
          <a:p>
            <a:pPr marL="198120" indent="0">
              <a:buNone/>
            </a:pPr>
            <a:r>
              <a:rPr lang="en-IN" sz="1500" dirty="0"/>
              <a:t>- Transactions: (</a:t>
            </a:r>
            <a:r>
              <a:rPr lang="en-IN" sz="1500" dirty="0" err="1"/>
              <a:t>zxid</a:t>
            </a:r>
            <a:r>
              <a:rPr lang="en-IN" sz="1500" dirty="0"/>
              <a:t>, key, value) tuples</a:t>
            </a:r>
          </a:p>
          <a:p>
            <a:pPr marL="198120" indent="0">
              <a:buNone/>
            </a:pPr>
            <a:r>
              <a:rPr lang="en-IN" sz="1500" dirty="0"/>
              <a:t>- Tracking: </a:t>
            </a:r>
            <a:r>
              <a:rPr lang="en-IN" sz="1500" dirty="0" err="1"/>
              <a:t>last_zxid</a:t>
            </a:r>
            <a:r>
              <a:rPr lang="en-IN" sz="1500" dirty="0"/>
              <a:t>, </a:t>
            </a:r>
            <a:r>
              <a:rPr lang="en-IN" sz="1500" dirty="0" err="1"/>
              <a:t>last_committed</a:t>
            </a:r>
            <a:endParaRPr lang="en-IN" sz="1500" dirty="0"/>
          </a:p>
        </p:txBody>
      </p:sp>
      <p:sp>
        <p:nvSpPr>
          <p:cNvPr id="7" name="Google Shape;928;p43">
            <a:extLst>
              <a:ext uri="{FF2B5EF4-FFF2-40B4-BE49-F238E27FC236}">
                <a16:creationId xmlns:a16="http://schemas.microsoft.com/office/drawing/2014/main" id="{DD1D30F3-57B9-891E-7C48-9ECD3BA4326E}"/>
              </a:ext>
            </a:extLst>
          </p:cNvPr>
          <p:cNvSpPr txBox="1">
            <a:spLocks/>
          </p:cNvSpPr>
          <p:nvPr/>
        </p:nvSpPr>
        <p:spPr>
          <a:xfrm>
            <a:off x="4469420" y="814135"/>
            <a:ext cx="2784891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Leader Election</a:t>
            </a:r>
          </a:p>
        </p:txBody>
      </p:sp>
    </p:spTree>
    <p:extLst>
      <p:ext uri="{BB962C8B-B14F-4D97-AF65-F5344CB8AC3E}">
        <p14:creationId xmlns:p14="http://schemas.microsoft.com/office/powerpoint/2010/main" val="3921179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89FB77EC-E893-0DFC-5CA9-9E511772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38">
            <a:extLst>
              <a:ext uri="{FF2B5EF4-FFF2-40B4-BE49-F238E27FC236}">
                <a16:creationId xmlns:a16="http://schemas.microsoft.com/office/drawing/2014/main" id="{3631119B-A7A4-3B81-2574-0D24FF13BA25}"/>
              </a:ext>
            </a:extLst>
          </p:cNvPr>
          <p:cNvGrpSpPr/>
          <p:nvPr/>
        </p:nvGrpSpPr>
        <p:grpSpPr>
          <a:xfrm>
            <a:off x="7569329" y="186943"/>
            <a:ext cx="534466" cy="691809"/>
            <a:chOff x="2875937" y="1960933"/>
            <a:chExt cx="629673" cy="815044"/>
          </a:xfrm>
        </p:grpSpPr>
        <p:sp>
          <p:nvSpPr>
            <p:cNvPr id="718" name="Google Shape;718;p38">
              <a:extLst>
                <a:ext uri="{FF2B5EF4-FFF2-40B4-BE49-F238E27FC236}">
                  <a16:creationId xmlns:a16="http://schemas.microsoft.com/office/drawing/2014/main" id="{0F7D5EE1-E1CE-9D74-02F6-8241850750C0}"/>
                </a:ext>
              </a:extLst>
            </p:cNvPr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>
              <a:extLst>
                <a:ext uri="{FF2B5EF4-FFF2-40B4-BE49-F238E27FC236}">
                  <a16:creationId xmlns:a16="http://schemas.microsoft.com/office/drawing/2014/main" id="{DE8E0A36-CBCC-64BD-1B19-FAE97AC6A6CC}"/>
                </a:ext>
              </a:extLst>
            </p:cNvPr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>
              <a:extLst>
                <a:ext uri="{FF2B5EF4-FFF2-40B4-BE49-F238E27FC236}">
                  <a16:creationId xmlns:a16="http://schemas.microsoft.com/office/drawing/2014/main" id="{8421A0BA-F2C8-21E0-1618-9831B4E808BF}"/>
                </a:ext>
              </a:extLst>
            </p:cNvPr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>
              <a:extLst>
                <a:ext uri="{FF2B5EF4-FFF2-40B4-BE49-F238E27FC236}">
                  <a16:creationId xmlns:a16="http://schemas.microsoft.com/office/drawing/2014/main" id="{FCA55F65-2914-65F7-4E1F-75C409E1DC52}"/>
                </a:ext>
              </a:extLst>
            </p:cNvPr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>
              <a:extLst>
                <a:ext uri="{FF2B5EF4-FFF2-40B4-BE49-F238E27FC236}">
                  <a16:creationId xmlns:a16="http://schemas.microsoft.com/office/drawing/2014/main" id="{A1F319FB-5341-B5FA-9132-533E855D1B26}"/>
                </a:ext>
              </a:extLst>
            </p:cNvPr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>
              <a:extLst>
                <a:ext uri="{FF2B5EF4-FFF2-40B4-BE49-F238E27FC236}">
                  <a16:creationId xmlns:a16="http://schemas.microsoft.com/office/drawing/2014/main" id="{7BE9F82D-7A21-5DC9-2308-487A8BF94864}"/>
                </a:ext>
              </a:extLst>
            </p:cNvPr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>
              <a:extLst>
                <a:ext uri="{FF2B5EF4-FFF2-40B4-BE49-F238E27FC236}">
                  <a16:creationId xmlns:a16="http://schemas.microsoft.com/office/drawing/2014/main" id="{0F398A0B-F4DC-0FD6-C3CF-BC30B0B1785C}"/>
                </a:ext>
              </a:extLst>
            </p:cNvPr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>
              <a:extLst>
                <a:ext uri="{FF2B5EF4-FFF2-40B4-BE49-F238E27FC236}">
                  <a16:creationId xmlns:a16="http://schemas.microsoft.com/office/drawing/2014/main" id="{44986B01-8EE5-0078-5793-4DB72E3E80CB}"/>
                </a:ext>
              </a:extLst>
            </p:cNvPr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>
              <a:extLst>
                <a:ext uri="{FF2B5EF4-FFF2-40B4-BE49-F238E27FC236}">
                  <a16:creationId xmlns:a16="http://schemas.microsoft.com/office/drawing/2014/main" id="{47621517-5476-D8EA-A002-2257DB548E3E}"/>
                </a:ext>
              </a:extLst>
            </p:cNvPr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>
              <a:extLst>
                <a:ext uri="{FF2B5EF4-FFF2-40B4-BE49-F238E27FC236}">
                  <a16:creationId xmlns:a16="http://schemas.microsoft.com/office/drawing/2014/main" id="{03B5A79B-29E3-CA7F-3F5B-B1F9C3CEA29D}"/>
                </a:ext>
              </a:extLst>
            </p:cNvPr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>
              <a:extLst>
                <a:ext uri="{FF2B5EF4-FFF2-40B4-BE49-F238E27FC236}">
                  <a16:creationId xmlns:a16="http://schemas.microsoft.com/office/drawing/2014/main" id="{297E2B42-F52A-9153-2A99-D7F371AF3714}"/>
                </a:ext>
              </a:extLst>
            </p:cNvPr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>
              <a:extLst>
                <a:ext uri="{FF2B5EF4-FFF2-40B4-BE49-F238E27FC236}">
                  <a16:creationId xmlns:a16="http://schemas.microsoft.com/office/drawing/2014/main" id="{E16ADF39-5E87-C06E-6BB7-7583B68086DE}"/>
                </a:ext>
              </a:extLst>
            </p:cNvPr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>
              <a:extLst>
                <a:ext uri="{FF2B5EF4-FFF2-40B4-BE49-F238E27FC236}">
                  <a16:creationId xmlns:a16="http://schemas.microsoft.com/office/drawing/2014/main" id="{2024A265-F047-5819-7951-17D8A392B9F5}"/>
                </a:ext>
              </a:extLst>
            </p:cNvPr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07BB8272-53E9-4B64-75F7-819A06A1A9B6}"/>
                </a:ext>
              </a:extLst>
            </p:cNvPr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ADA9CCC0-CA67-C848-A8E8-A6A444FA7227}"/>
                </a:ext>
              </a:extLst>
            </p:cNvPr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6188A884-1223-55B0-32BC-61DDBD4CD769}"/>
                </a:ext>
              </a:extLst>
            </p:cNvPr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1BB59C5F-5737-0931-F27A-B2669407F2C9}"/>
                </a:ext>
              </a:extLst>
            </p:cNvPr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994486DE-5B46-2F32-2DB2-FAAF84A93F74}"/>
                </a:ext>
              </a:extLst>
            </p:cNvPr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DE32901B-F1BF-BB74-9513-961399A8BF89}"/>
                </a:ext>
              </a:extLst>
            </p:cNvPr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DF4ED382-5097-CF04-0C83-C414AF1D49D2}"/>
                </a:ext>
              </a:extLst>
            </p:cNvPr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85CE93F7-D1BF-4CE7-65C4-56B611CAFBCD}"/>
                </a:ext>
              </a:extLst>
            </p:cNvPr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54456999-0D1E-12D4-5027-88D9B231E1F5}"/>
                </a:ext>
              </a:extLst>
            </p:cNvPr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696;p37">
            <a:extLst>
              <a:ext uri="{FF2B5EF4-FFF2-40B4-BE49-F238E27FC236}">
                <a16:creationId xmlns:a16="http://schemas.microsoft.com/office/drawing/2014/main" id="{275604BC-8DC3-02C6-48A6-645270FB2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Tech Stack</a:t>
            </a:r>
            <a:endParaRPr sz="3500" dirty="0"/>
          </a:p>
        </p:txBody>
      </p:sp>
      <p:sp>
        <p:nvSpPr>
          <p:cNvPr id="33" name="Google Shape;697;p37">
            <a:extLst>
              <a:ext uri="{FF2B5EF4-FFF2-40B4-BE49-F238E27FC236}">
                <a16:creationId xmlns:a16="http://schemas.microsoft.com/office/drawing/2014/main" id="{368F003F-EB97-C36D-6C39-76D299034127}"/>
              </a:ext>
            </a:extLst>
          </p:cNvPr>
          <p:cNvSpPr txBox="1">
            <a:spLocks/>
          </p:cNvSpPr>
          <p:nvPr/>
        </p:nvSpPr>
        <p:spPr>
          <a:xfrm>
            <a:off x="3139440" y="1789833"/>
            <a:ext cx="5462423" cy="217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100" u="sng" dirty="0"/>
              <a:t>GRPC</a:t>
            </a:r>
          </a:p>
          <a:p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Mirrors real-world distributed systems</a:t>
            </a:r>
          </a:p>
          <a:p>
            <a:pPr marL="139700" indent="0"/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Production-ready library support</a:t>
            </a:r>
          </a:p>
          <a:p>
            <a:pPr>
              <a:buFontTx/>
              <a:buChar char="-"/>
            </a:pPr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No complicated serialization delays</a:t>
            </a:r>
          </a:p>
          <a:p>
            <a:pPr>
              <a:buFontTx/>
              <a:buChar char="-"/>
            </a:pPr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Built over TCP/IP</a:t>
            </a:r>
          </a:p>
          <a:p>
            <a:pPr>
              <a:buFontTx/>
              <a:buChar char="-"/>
            </a:pPr>
            <a:endParaRPr lang="en-US" sz="1100" dirty="0"/>
          </a:p>
          <a:p>
            <a:pPr>
              <a:buFontTx/>
              <a:buChar char="-"/>
            </a:pPr>
            <a:r>
              <a:rPr lang="en-US" sz="1100" dirty="0"/>
              <a:t>Efficient and reliable</a:t>
            </a:r>
          </a:p>
        </p:txBody>
      </p:sp>
      <p:sp>
        <p:nvSpPr>
          <p:cNvPr id="34" name="Google Shape;697;p37">
            <a:extLst>
              <a:ext uri="{FF2B5EF4-FFF2-40B4-BE49-F238E27FC236}">
                <a16:creationId xmlns:a16="http://schemas.microsoft.com/office/drawing/2014/main" id="{3D252920-A71F-4ACE-E1D7-58B4B2A92299}"/>
              </a:ext>
            </a:extLst>
          </p:cNvPr>
          <p:cNvSpPr txBox="1">
            <a:spLocks/>
          </p:cNvSpPr>
          <p:nvPr/>
        </p:nvSpPr>
        <p:spPr>
          <a:xfrm>
            <a:off x="846937" y="1789833"/>
            <a:ext cx="1881024" cy="215361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59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Fira Code"/>
              <a:buAutoNum type="arabicPeriod"/>
              <a:defRPr sz="10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2590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98120" indent="0">
              <a:buNone/>
            </a:pPr>
            <a:r>
              <a:rPr lang="en-US" sz="1200" u="sng" dirty="0">
                <a:solidFill>
                  <a:schemeClr val="tx1"/>
                </a:solidFill>
              </a:rPr>
              <a:t>Why Not Alternatives?: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Not Rust/C++: Development speed &gt; memory safety</a:t>
            </a:r>
          </a:p>
          <a:p>
            <a:pPr marL="369570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- Not Go: (we don’t know it)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BCEE41-A3C2-E895-D880-9C3E9BE6EFF9}"/>
              </a:ext>
            </a:extLst>
          </p:cNvPr>
          <p:cNvSpPr txBox="1"/>
          <p:nvPr/>
        </p:nvSpPr>
        <p:spPr>
          <a:xfrm>
            <a:off x="760699" y="4401572"/>
            <a:ext cx="7595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Docker Orchestration: Containerized deployment for cluster management</a:t>
            </a:r>
            <a:endParaRPr lang="en-IN" sz="1200" dirty="0">
              <a:solidFill>
                <a:schemeClr val="bg1"/>
              </a:solidFill>
              <a:highlight>
                <a:srgbClr val="000000"/>
              </a:highligh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544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74373365-9F6F-8922-539C-842F98A2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231EEB87-1204-97BB-EFFF-AE904AC8B098}"/>
              </a:ext>
            </a:extLst>
          </p:cNvPr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F7AA4763-9310-9C8B-E9AB-ECD38ABA8216}"/>
              </a:ext>
            </a:extLst>
          </p:cNvPr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2E51FBB7-FFBA-92E3-D06A-A135692ED46A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2DB1FECF-0718-9E42-0039-03917F83E9AB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FC7220F6-6AFF-37A0-90CF-90BB4EBEF961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5290EF8E-94A0-AD0D-06A5-BF505E9AC6C9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8ABF8A31-6059-05DB-E325-2FA430B82D2F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9684437B-4DD3-BAAA-8DA9-80134EB26228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DFE1E7E9-E08C-8489-2444-9E3C1BC3255C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560175C0-EDD3-DDF7-F201-F3C6A875E236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40318952-7FE4-2961-D31F-4F291EF1C42D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B6D52F8F-5421-3998-8781-F8A7CD8E84B1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C23D1554-12E4-0D22-3804-2CFC71D3A5EA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ED22D92B-F4E1-CA85-FFF2-43831F3C08BA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F3DC8570-5864-4FC5-22E2-7806C863F9DC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AA585EC5-A17F-6106-B91B-2B53E6085952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733FCF8F-3593-0D52-BFB1-7115028DF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Each Node Includes</a:t>
            </a:r>
            <a:endParaRPr sz="3500" dirty="0"/>
          </a:p>
        </p:txBody>
      </p:sp>
      <p:sp>
        <p:nvSpPr>
          <p:cNvPr id="11" name="Google Shape;927;p43">
            <a:extLst>
              <a:ext uri="{FF2B5EF4-FFF2-40B4-BE49-F238E27FC236}">
                <a16:creationId xmlns:a16="http://schemas.microsoft.com/office/drawing/2014/main" id="{23810A09-CB71-B749-C70B-4E3C5B7552C1}"/>
              </a:ext>
            </a:extLst>
          </p:cNvPr>
          <p:cNvSpPr txBox="1">
            <a:spLocks/>
          </p:cNvSpPr>
          <p:nvPr/>
        </p:nvSpPr>
        <p:spPr>
          <a:xfrm>
            <a:off x="1028050" y="2476742"/>
            <a:ext cx="6344710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IN" dirty="0"/>
              <a:t>Consensus Engine: Runs RAFT or ZAB Logic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Persistent Log: Durable log maintenance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Comms: GRPC for RPC communication</a:t>
            </a:r>
          </a:p>
          <a:p>
            <a:pPr marL="139700" indent="0"/>
            <a:endParaRPr lang="en-IN" dirty="0"/>
          </a:p>
          <a:p>
            <a:pPr>
              <a:buFontTx/>
              <a:buChar char="-"/>
            </a:pPr>
            <a:r>
              <a:rPr lang="en-IN" dirty="0"/>
              <a:t>Timer Subsystem: Elections and Heartbeats</a:t>
            </a:r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r>
              <a:rPr lang="en-IN" dirty="0"/>
              <a:t>Client Interface: </a:t>
            </a:r>
            <a:r>
              <a:rPr lang="en-IN" dirty="0" err="1"/>
              <a:t>SetVal</a:t>
            </a:r>
            <a:r>
              <a:rPr lang="en-IN" dirty="0"/>
              <a:t>/</a:t>
            </a:r>
            <a:r>
              <a:rPr lang="en-IN" dirty="0" err="1"/>
              <a:t>GetVal</a:t>
            </a:r>
            <a:endParaRPr lang="en-IN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r>
              <a:rPr lang="en-IN" dirty="0"/>
              <a:t>State Machine: KV Store</a:t>
            </a:r>
          </a:p>
        </p:txBody>
      </p:sp>
    </p:spTree>
    <p:extLst>
      <p:ext uri="{BB962C8B-B14F-4D97-AF65-F5344CB8AC3E}">
        <p14:creationId xmlns:p14="http://schemas.microsoft.com/office/powerpoint/2010/main" val="3509232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9DCB74F6-B90A-B1D2-8E4C-5A1C171A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D185BE03-3654-8658-BC94-A83562F15096}"/>
              </a:ext>
            </a:extLst>
          </p:cNvPr>
          <p:cNvSpPr/>
          <p:nvPr/>
        </p:nvSpPr>
        <p:spPr>
          <a:xfrm>
            <a:off x="454375" y="761239"/>
            <a:ext cx="3946937" cy="285620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035FC875-1A47-44D4-8B79-C65CE978777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71607" y="1524001"/>
            <a:ext cx="3390601" cy="17556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Automated load generation</a:t>
            </a:r>
          </a:p>
          <a:p>
            <a:pPr>
              <a:buFontTx/>
              <a:buChar char="-"/>
            </a:pPr>
            <a:r>
              <a:rPr lang="en-US" dirty="0"/>
              <a:t>Configurable R/W ratio</a:t>
            </a:r>
          </a:p>
          <a:p>
            <a:pPr>
              <a:buFontTx/>
              <a:buChar char="-"/>
            </a:pPr>
            <a:r>
              <a:rPr lang="en-US" dirty="0"/>
              <a:t>Latency and throughput tracking</a:t>
            </a:r>
          </a:p>
          <a:p>
            <a:pPr>
              <a:buFontTx/>
              <a:buChar char="-"/>
            </a:pPr>
            <a:r>
              <a:rPr lang="en-US" dirty="0"/>
              <a:t>Metric Reporting</a:t>
            </a:r>
          </a:p>
          <a:p>
            <a:pPr>
              <a:buFontTx/>
              <a:buChar char="-"/>
            </a:pPr>
            <a:r>
              <a:rPr lang="en-US" dirty="0"/>
              <a:t>Fault Injection </a:t>
            </a:r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041BEE24-A522-0127-3CD0-62365F121B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2131" y="920169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Benchmark Client</a:t>
            </a:r>
            <a:endParaRPr dirty="0"/>
          </a:p>
        </p:txBody>
      </p:sp>
      <p:sp>
        <p:nvSpPr>
          <p:cNvPr id="2" name="Google Shape;925;p43">
            <a:extLst>
              <a:ext uri="{FF2B5EF4-FFF2-40B4-BE49-F238E27FC236}">
                <a16:creationId xmlns:a16="http://schemas.microsoft.com/office/drawing/2014/main" id="{00532D13-0296-25F5-78F1-9C6D2A967406}"/>
              </a:ext>
            </a:extLst>
          </p:cNvPr>
          <p:cNvSpPr/>
          <p:nvPr/>
        </p:nvSpPr>
        <p:spPr>
          <a:xfrm>
            <a:off x="4706352" y="761238"/>
            <a:ext cx="3946937" cy="22188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27;p43">
            <a:extLst>
              <a:ext uri="{FF2B5EF4-FFF2-40B4-BE49-F238E27FC236}">
                <a16:creationId xmlns:a16="http://schemas.microsoft.com/office/drawing/2014/main" id="{66E87115-C072-571A-4BCA-06879B563F22}"/>
              </a:ext>
            </a:extLst>
          </p:cNvPr>
          <p:cNvSpPr txBox="1">
            <a:spLocks/>
          </p:cNvSpPr>
          <p:nvPr/>
        </p:nvSpPr>
        <p:spPr>
          <a:xfrm>
            <a:off x="5023584" y="1473371"/>
            <a:ext cx="3390601" cy="130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Manual testing</a:t>
            </a:r>
          </a:p>
          <a:p>
            <a:pPr>
              <a:buFontTx/>
              <a:buChar char="-"/>
            </a:pPr>
            <a:r>
              <a:rPr lang="en-US" dirty="0" err="1"/>
              <a:t>GetVal</a:t>
            </a:r>
            <a:r>
              <a:rPr lang="en-US" dirty="0"/>
              <a:t>/</a:t>
            </a:r>
            <a:r>
              <a:rPr lang="en-US" dirty="0" err="1"/>
              <a:t>SetVal</a:t>
            </a:r>
            <a:r>
              <a:rPr lang="en-US" dirty="0"/>
              <a:t> commands</a:t>
            </a:r>
          </a:p>
          <a:p>
            <a:pPr>
              <a:buFontTx/>
              <a:buChar char="-"/>
            </a:pPr>
            <a:r>
              <a:rPr lang="en-US" dirty="0"/>
              <a:t>Node Control</a:t>
            </a:r>
          </a:p>
          <a:p>
            <a:pPr>
              <a:buFontTx/>
              <a:buChar char="-"/>
            </a:pPr>
            <a:r>
              <a:rPr lang="en-US" dirty="0"/>
              <a:t>Debugging and Inspection</a:t>
            </a:r>
          </a:p>
          <a:p>
            <a:pPr>
              <a:buFontTx/>
              <a:buChar char="-"/>
            </a:pPr>
            <a:r>
              <a:rPr lang="en-US" dirty="0"/>
              <a:t>Status Monitoring</a:t>
            </a:r>
          </a:p>
        </p:txBody>
      </p:sp>
      <p:sp>
        <p:nvSpPr>
          <p:cNvPr id="4" name="Google Shape;928;p43">
            <a:extLst>
              <a:ext uri="{FF2B5EF4-FFF2-40B4-BE49-F238E27FC236}">
                <a16:creationId xmlns:a16="http://schemas.microsoft.com/office/drawing/2014/main" id="{A7AB3A72-2B21-A77A-4C9D-BC62813E1826}"/>
              </a:ext>
            </a:extLst>
          </p:cNvPr>
          <p:cNvSpPr txBox="1">
            <a:spLocks/>
          </p:cNvSpPr>
          <p:nvPr/>
        </p:nvSpPr>
        <p:spPr>
          <a:xfrm>
            <a:off x="4841916" y="821521"/>
            <a:ext cx="33906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Interactive REPL</a:t>
            </a:r>
          </a:p>
        </p:txBody>
      </p:sp>
      <p:grpSp>
        <p:nvGrpSpPr>
          <p:cNvPr id="5" name="Google Shape;746;p39">
            <a:extLst>
              <a:ext uri="{FF2B5EF4-FFF2-40B4-BE49-F238E27FC236}">
                <a16:creationId xmlns:a16="http://schemas.microsoft.com/office/drawing/2014/main" id="{AC48FE0B-A364-0658-4E0C-43DF49D20F14}"/>
              </a:ext>
            </a:extLst>
          </p:cNvPr>
          <p:cNvGrpSpPr/>
          <p:nvPr/>
        </p:nvGrpSpPr>
        <p:grpSpPr>
          <a:xfrm>
            <a:off x="8232516" y="4327089"/>
            <a:ext cx="723042" cy="598023"/>
            <a:chOff x="1654675" y="4256126"/>
            <a:chExt cx="851841" cy="704551"/>
          </a:xfrm>
        </p:grpSpPr>
        <p:grpSp>
          <p:nvGrpSpPr>
            <p:cNvPr id="6" name="Google Shape;747;p39">
              <a:extLst>
                <a:ext uri="{FF2B5EF4-FFF2-40B4-BE49-F238E27FC236}">
                  <a16:creationId xmlns:a16="http://schemas.microsoft.com/office/drawing/2014/main" id="{7D43DE81-8D67-B587-8956-445E77B568DC}"/>
                </a:ext>
              </a:extLst>
            </p:cNvPr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25" name="Google Shape;748;p39">
                <a:extLst>
                  <a:ext uri="{FF2B5EF4-FFF2-40B4-BE49-F238E27FC236}">
                    <a16:creationId xmlns:a16="http://schemas.microsoft.com/office/drawing/2014/main" id="{F9BA81E0-3C68-A7DB-BCA8-3569AC02A725}"/>
                  </a:ext>
                </a:extLst>
              </p:cNvPr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49;p39">
                <a:extLst>
                  <a:ext uri="{FF2B5EF4-FFF2-40B4-BE49-F238E27FC236}">
                    <a16:creationId xmlns:a16="http://schemas.microsoft.com/office/drawing/2014/main" id="{44344403-E53A-3D51-0F54-8704C09FC081}"/>
                  </a:ext>
                </a:extLst>
              </p:cNvPr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50;p39">
                <a:extLst>
                  <a:ext uri="{FF2B5EF4-FFF2-40B4-BE49-F238E27FC236}">
                    <a16:creationId xmlns:a16="http://schemas.microsoft.com/office/drawing/2014/main" id="{1DD19B33-EA1E-FBE8-61DD-55DF14A01935}"/>
                  </a:ext>
                </a:extLst>
              </p:cNvPr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51;p39">
                <a:extLst>
                  <a:ext uri="{FF2B5EF4-FFF2-40B4-BE49-F238E27FC236}">
                    <a16:creationId xmlns:a16="http://schemas.microsoft.com/office/drawing/2014/main" id="{F7C517C7-1376-B04E-895A-8D510A2C156A}"/>
                  </a:ext>
                </a:extLst>
              </p:cNvPr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52;p39">
                <a:extLst>
                  <a:ext uri="{FF2B5EF4-FFF2-40B4-BE49-F238E27FC236}">
                    <a16:creationId xmlns:a16="http://schemas.microsoft.com/office/drawing/2014/main" id="{F7313679-49B3-1EA0-FF37-9FD1C76149CF}"/>
                  </a:ext>
                </a:extLst>
              </p:cNvPr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53;p39">
                <a:extLst>
                  <a:ext uri="{FF2B5EF4-FFF2-40B4-BE49-F238E27FC236}">
                    <a16:creationId xmlns:a16="http://schemas.microsoft.com/office/drawing/2014/main" id="{30ACE638-A7F5-C0DE-B333-FA791CE4A50B}"/>
                  </a:ext>
                </a:extLst>
              </p:cNvPr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54;p39">
                <a:extLst>
                  <a:ext uri="{FF2B5EF4-FFF2-40B4-BE49-F238E27FC236}">
                    <a16:creationId xmlns:a16="http://schemas.microsoft.com/office/drawing/2014/main" id="{B1AD7FAF-3F05-7FAE-F76D-8592E183AD72}"/>
                  </a:ext>
                </a:extLst>
              </p:cNvPr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755;p39">
                <a:extLst>
                  <a:ext uri="{FF2B5EF4-FFF2-40B4-BE49-F238E27FC236}">
                    <a16:creationId xmlns:a16="http://schemas.microsoft.com/office/drawing/2014/main" id="{8B221E0C-94BF-10C8-1192-C9B68C021112}"/>
                  </a:ext>
                </a:extLst>
              </p:cNvPr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56;p39">
                <a:extLst>
                  <a:ext uri="{FF2B5EF4-FFF2-40B4-BE49-F238E27FC236}">
                    <a16:creationId xmlns:a16="http://schemas.microsoft.com/office/drawing/2014/main" id="{608602BA-D75C-DE71-4C9E-8E719C590C8C}"/>
                  </a:ext>
                </a:extLst>
              </p:cNvPr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57;p39">
                <a:extLst>
                  <a:ext uri="{FF2B5EF4-FFF2-40B4-BE49-F238E27FC236}">
                    <a16:creationId xmlns:a16="http://schemas.microsoft.com/office/drawing/2014/main" id="{D3280C85-E9C1-A520-21B5-FE45AF6707C0}"/>
                  </a:ext>
                </a:extLst>
              </p:cNvPr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758;p39">
                <a:extLst>
                  <a:ext uri="{FF2B5EF4-FFF2-40B4-BE49-F238E27FC236}">
                    <a16:creationId xmlns:a16="http://schemas.microsoft.com/office/drawing/2014/main" id="{0413C5D3-BAE6-5A32-2628-6CA47EC0D490}"/>
                  </a:ext>
                </a:extLst>
              </p:cNvPr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759;p39">
                <a:extLst>
                  <a:ext uri="{FF2B5EF4-FFF2-40B4-BE49-F238E27FC236}">
                    <a16:creationId xmlns:a16="http://schemas.microsoft.com/office/drawing/2014/main" id="{0032ABD3-71C1-6639-9669-B8064E47309F}"/>
                  </a:ext>
                </a:extLst>
              </p:cNvPr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760;p39">
                <a:extLst>
                  <a:ext uri="{FF2B5EF4-FFF2-40B4-BE49-F238E27FC236}">
                    <a16:creationId xmlns:a16="http://schemas.microsoft.com/office/drawing/2014/main" id="{A8BDF946-4F0B-2005-A9D9-C685A2BE9B9C}"/>
                  </a:ext>
                </a:extLst>
              </p:cNvPr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761;p39">
                <a:extLst>
                  <a:ext uri="{FF2B5EF4-FFF2-40B4-BE49-F238E27FC236}">
                    <a16:creationId xmlns:a16="http://schemas.microsoft.com/office/drawing/2014/main" id="{93B9ECB2-BC13-A870-5F1D-3375D2D37A35}"/>
                  </a:ext>
                </a:extLst>
              </p:cNvPr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762;p39">
                <a:extLst>
                  <a:ext uri="{FF2B5EF4-FFF2-40B4-BE49-F238E27FC236}">
                    <a16:creationId xmlns:a16="http://schemas.microsoft.com/office/drawing/2014/main" id="{1FD16256-8F9B-7B46-52E8-34BBEB573F3B}"/>
                  </a:ext>
                </a:extLst>
              </p:cNvPr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763;p39">
                <a:extLst>
                  <a:ext uri="{FF2B5EF4-FFF2-40B4-BE49-F238E27FC236}">
                    <a16:creationId xmlns:a16="http://schemas.microsoft.com/office/drawing/2014/main" id="{086C5ACC-D41E-479E-0FD8-A1722A61D1EF}"/>
                  </a:ext>
                </a:extLst>
              </p:cNvPr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764;p39">
                <a:extLst>
                  <a:ext uri="{FF2B5EF4-FFF2-40B4-BE49-F238E27FC236}">
                    <a16:creationId xmlns:a16="http://schemas.microsoft.com/office/drawing/2014/main" id="{2824B30F-CD83-12FD-77CC-2FA51A55A640}"/>
                  </a:ext>
                </a:extLst>
              </p:cNvPr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765;p39">
                <a:extLst>
                  <a:ext uri="{FF2B5EF4-FFF2-40B4-BE49-F238E27FC236}">
                    <a16:creationId xmlns:a16="http://schemas.microsoft.com/office/drawing/2014/main" id="{6B73F826-B378-E194-F7D7-400080905052}"/>
                  </a:ext>
                </a:extLst>
              </p:cNvPr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66;p39">
                <a:extLst>
                  <a:ext uri="{FF2B5EF4-FFF2-40B4-BE49-F238E27FC236}">
                    <a16:creationId xmlns:a16="http://schemas.microsoft.com/office/drawing/2014/main" id="{FE81901E-1B02-A672-3A15-49EE83CBEA72}"/>
                  </a:ext>
                </a:extLst>
              </p:cNvPr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67;p39">
                <a:extLst>
                  <a:ext uri="{FF2B5EF4-FFF2-40B4-BE49-F238E27FC236}">
                    <a16:creationId xmlns:a16="http://schemas.microsoft.com/office/drawing/2014/main" id="{B16E5833-2205-6B61-9F74-75A9396EAA77}"/>
                  </a:ext>
                </a:extLst>
              </p:cNvPr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68;p39">
                <a:extLst>
                  <a:ext uri="{FF2B5EF4-FFF2-40B4-BE49-F238E27FC236}">
                    <a16:creationId xmlns:a16="http://schemas.microsoft.com/office/drawing/2014/main" id="{ACFD8C59-BAA4-C418-87BC-BD39185BB5BB}"/>
                  </a:ext>
                </a:extLst>
              </p:cNvPr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69;p39">
                <a:extLst>
                  <a:ext uri="{FF2B5EF4-FFF2-40B4-BE49-F238E27FC236}">
                    <a16:creationId xmlns:a16="http://schemas.microsoft.com/office/drawing/2014/main" id="{35E6756F-FFB6-A120-606E-50E04F2CA7CC}"/>
                  </a:ext>
                </a:extLst>
              </p:cNvPr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70;p39">
                <a:extLst>
                  <a:ext uri="{FF2B5EF4-FFF2-40B4-BE49-F238E27FC236}">
                    <a16:creationId xmlns:a16="http://schemas.microsoft.com/office/drawing/2014/main" id="{94C3E405-CBEB-4872-A145-AD952A61FC18}"/>
                  </a:ext>
                </a:extLst>
              </p:cNvPr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71;p39">
                <a:extLst>
                  <a:ext uri="{FF2B5EF4-FFF2-40B4-BE49-F238E27FC236}">
                    <a16:creationId xmlns:a16="http://schemas.microsoft.com/office/drawing/2014/main" id="{B3D0FDF0-C9F8-84F1-5F4C-BE84E39E1B7D}"/>
                  </a:ext>
                </a:extLst>
              </p:cNvPr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772;p39">
              <a:extLst>
                <a:ext uri="{FF2B5EF4-FFF2-40B4-BE49-F238E27FC236}">
                  <a16:creationId xmlns:a16="http://schemas.microsoft.com/office/drawing/2014/main" id="{064173DF-C219-BA69-292C-172AF7E8E479}"/>
                </a:ext>
              </a:extLst>
            </p:cNvPr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8" name="Google Shape;773;p39">
                <a:extLst>
                  <a:ext uri="{FF2B5EF4-FFF2-40B4-BE49-F238E27FC236}">
                    <a16:creationId xmlns:a16="http://schemas.microsoft.com/office/drawing/2014/main" id="{E51A757E-E390-6969-4385-4DC9DB884C45}"/>
                  </a:ext>
                </a:extLst>
              </p:cNvPr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74;p39">
                <a:extLst>
                  <a:ext uri="{FF2B5EF4-FFF2-40B4-BE49-F238E27FC236}">
                    <a16:creationId xmlns:a16="http://schemas.microsoft.com/office/drawing/2014/main" id="{8A3CF8C1-B7F1-3193-C871-7D7937C6605B}"/>
                  </a:ext>
                </a:extLst>
              </p:cNvPr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75;p39">
                <a:extLst>
                  <a:ext uri="{FF2B5EF4-FFF2-40B4-BE49-F238E27FC236}">
                    <a16:creationId xmlns:a16="http://schemas.microsoft.com/office/drawing/2014/main" id="{89EB76CE-A9EF-AF24-00B0-C206C417FAD5}"/>
                  </a:ext>
                </a:extLst>
              </p:cNvPr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76;p39">
                <a:extLst>
                  <a:ext uri="{FF2B5EF4-FFF2-40B4-BE49-F238E27FC236}">
                    <a16:creationId xmlns:a16="http://schemas.microsoft.com/office/drawing/2014/main" id="{04415370-5866-A85B-225D-9F33EFD5DDDB}"/>
                  </a:ext>
                </a:extLst>
              </p:cNvPr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777;p39">
                <a:extLst>
                  <a:ext uri="{FF2B5EF4-FFF2-40B4-BE49-F238E27FC236}">
                    <a16:creationId xmlns:a16="http://schemas.microsoft.com/office/drawing/2014/main" id="{3E598D80-BCBC-97D0-6189-1F54C146A198}"/>
                  </a:ext>
                </a:extLst>
              </p:cNvPr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78;p39">
                <a:extLst>
                  <a:ext uri="{FF2B5EF4-FFF2-40B4-BE49-F238E27FC236}">
                    <a16:creationId xmlns:a16="http://schemas.microsoft.com/office/drawing/2014/main" id="{5C4DE1DD-700F-8F98-546E-F4FE9CC61AF0}"/>
                  </a:ext>
                </a:extLst>
              </p:cNvPr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779;p39">
                <a:extLst>
                  <a:ext uri="{FF2B5EF4-FFF2-40B4-BE49-F238E27FC236}">
                    <a16:creationId xmlns:a16="http://schemas.microsoft.com/office/drawing/2014/main" id="{05CB308B-7493-DC85-0AB3-D646941A057D}"/>
                  </a:ext>
                </a:extLst>
              </p:cNvPr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80;p39">
                <a:extLst>
                  <a:ext uri="{FF2B5EF4-FFF2-40B4-BE49-F238E27FC236}">
                    <a16:creationId xmlns:a16="http://schemas.microsoft.com/office/drawing/2014/main" id="{9FBED1C5-9194-2F3B-4133-27170B175CA3}"/>
                  </a:ext>
                </a:extLst>
              </p:cNvPr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81;p39">
                <a:extLst>
                  <a:ext uri="{FF2B5EF4-FFF2-40B4-BE49-F238E27FC236}">
                    <a16:creationId xmlns:a16="http://schemas.microsoft.com/office/drawing/2014/main" id="{236439D6-9C67-27DD-6C64-EC61586AC793}"/>
                  </a:ext>
                </a:extLst>
              </p:cNvPr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82;p39">
                <a:extLst>
                  <a:ext uri="{FF2B5EF4-FFF2-40B4-BE49-F238E27FC236}">
                    <a16:creationId xmlns:a16="http://schemas.microsoft.com/office/drawing/2014/main" id="{1E7C308D-8E66-E7DD-4546-2132FE22BD46}"/>
                  </a:ext>
                </a:extLst>
              </p:cNvPr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83;p39">
                <a:extLst>
                  <a:ext uri="{FF2B5EF4-FFF2-40B4-BE49-F238E27FC236}">
                    <a16:creationId xmlns:a16="http://schemas.microsoft.com/office/drawing/2014/main" id="{25C34C03-4FE9-7B59-57AA-1FC8E57EE955}"/>
                  </a:ext>
                </a:extLst>
              </p:cNvPr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84;p39">
                <a:extLst>
                  <a:ext uri="{FF2B5EF4-FFF2-40B4-BE49-F238E27FC236}">
                    <a16:creationId xmlns:a16="http://schemas.microsoft.com/office/drawing/2014/main" id="{9C60121E-86D1-B36D-7205-42B447ECB0DC}"/>
                  </a:ext>
                </a:extLst>
              </p:cNvPr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85;p39">
                <a:extLst>
                  <a:ext uri="{FF2B5EF4-FFF2-40B4-BE49-F238E27FC236}">
                    <a16:creationId xmlns:a16="http://schemas.microsoft.com/office/drawing/2014/main" id="{7D72190E-9DA9-5D30-4CFC-07B93BE07853}"/>
                  </a:ext>
                </a:extLst>
              </p:cNvPr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86;p39">
                <a:extLst>
                  <a:ext uri="{FF2B5EF4-FFF2-40B4-BE49-F238E27FC236}">
                    <a16:creationId xmlns:a16="http://schemas.microsoft.com/office/drawing/2014/main" id="{4F9CAE45-9F5D-5C0C-C582-31E67AE046C2}"/>
                  </a:ext>
                </a:extLst>
              </p:cNvPr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87;p39">
                <a:extLst>
                  <a:ext uri="{FF2B5EF4-FFF2-40B4-BE49-F238E27FC236}">
                    <a16:creationId xmlns:a16="http://schemas.microsoft.com/office/drawing/2014/main" id="{FE5DA9EB-B43C-1261-C2CF-1F32B989A644}"/>
                  </a:ext>
                </a:extLst>
              </p:cNvPr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88;p39">
                <a:extLst>
                  <a:ext uri="{FF2B5EF4-FFF2-40B4-BE49-F238E27FC236}">
                    <a16:creationId xmlns:a16="http://schemas.microsoft.com/office/drawing/2014/main" id="{6C3AEAF8-A83D-24B8-D8D5-DB4251561589}"/>
                  </a:ext>
                </a:extLst>
              </p:cNvPr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89;p39">
                <a:extLst>
                  <a:ext uri="{FF2B5EF4-FFF2-40B4-BE49-F238E27FC236}">
                    <a16:creationId xmlns:a16="http://schemas.microsoft.com/office/drawing/2014/main" id="{805C73D7-B3F9-39E5-A17A-8A24C6A76A95}"/>
                  </a:ext>
                </a:extLst>
              </p:cNvPr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CF7F026-E1CA-A804-604C-BCC7A9556105}"/>
              </a:ext>
            </a:extLst>
          </p:cNvPr>
          <p:cNvSpPr txBox="1"/>
          <p:nvPr/>
        </p:nvSpPr>
        <p:spPr>
          <a:xfrm>
            <a:off x="3471099" y="4012929"/>
            <a:ext cx="45405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Request Flow: Random Node -&gt; Check if leader -&gt; Redirect if not -&gt; Execute operation</a:t>
            </a:r>
            <a:endParaRPr lang="en-IN" sz="1200" dirty="0">
              <a:solidFill>
                <a:schemeClr val="bg1"/>
              </a:solidFill>
              <a:highlight>
                <a:srgbClr val="000000"/>
              </a:highlight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03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A8065A7E-7E14-75C7-1C24-C4AA4355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6B84C593-B6CA-5052-7488-085546D97720}"/>
              </a:ext>
            </a:extLst>
          </p:cNvPr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491BA184-75B7-DE70-D128-B19F054031E2}"/>
              </a:ext>
            </a:extLst>
          </p:cNvPr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5D98BB76-9F3F-36B2-24AD-78CF9E1899AE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DD9DD954-F6E8-AE3C-FCCF-D7B1743C32AB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72CCBFA9-9CB4-80A2-1AD3-57FABAC0E247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DC6F6851-E2C9-9BB7-4864-B4DA20F02711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BADE2EF3-BC3C-5792-8A3D-1C8879521DFB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65A683A7-B7D8-FDE4-EADA-6C4DC07BC5DA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8A7A3FB6-6777-081E-85C4-B3B2134E7406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D36274F3-9869-F502-C6AF-2B64C21FA535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65CCCAF0-C423-238F-CA85-3044D6896C48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ECBD598E-FC1D-F2CF-3EC1-F27707B7473A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C3ABC9FB-E70D-DFD1-7794-219C23D4A709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BFEA1FEB-818F-FC98-72DE-1165EC98DF27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28BB0952-AC81-DC47-0922-314C9F377C16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5506BA9E-65D3-8C4E-A719-D24E9D566102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59A8CEB5-3F09-F3D1-C4FA-3CD1AE82B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/>
              <a:t>Benchmark Results</a:t>
            </a:r>
            <a:endParaRPr sz="3500" dirty="0"/>
          </a:p>
        </p:txBody>
      </p:sp>
      <p:pic>
        <p:nvPicPr>
          <p:cNvPr id="3" name="Picture 2" descr="A graph of blue and pink bars">
            <a:extLst>
              <a:ext uri="{FF2B5EF4-FFF2-40B4-BE49-F238E27FC236}">
                <a16:creationId xmlns:a16="http://schemas.microsoft.com/office/drawing/2014/main" id="{BE0A23D7-FE7F-5CAA-A445-67324C1CE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984" y="1592998"/>
            <a:ext cx="6803748" cy="1957503"/>
          </a:xfrm>
          <a:prstGeom prst="rect">
            <a:avLst/>
          </a:prstGeom>
        </p:spPr>
      </p:pic>
      <p:sp>
        <p:nvSpPr>
          <p:cNvPr id="7" name="Google Shape;927;p43">
            <a:extLst>
              <a:ext uri="{FF2B5EF4-FFF2-40B4-BE49-F238E27FC236}">
                <a16:creationId xmlns:a16="http://schemas.microsoft.com/office/drawing/2014/main" id="{4C9F4BAC-6D52-A285-56E1-C0BCB4A828CE}"/>
              </a:ext>
            </a:extLst>
          </p:cNvPr>
          <p:cNvSpPr txBox="1">
            <a:spLocks/>
          </p:cNvSpPr>
          <p:nvPr/>
        </p:nvSpPr>
        <p:spPr>
          <a:xfrm>
            <a:off x="1213984" y="3310651"/>
            <a:ext cx="6763032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39700" indent="0" algn="ctr"/>
            <a:r>
              <a:rPr lang="en-IN" sz="1100" dirty="0"/>
              <a:t>Raft performance degrades with larger clusters while ZAB remains decently consistent</a:t>
            </a:r>
          </a:p>
        </p:txBody>
      </p:sp>
    </p:spTree>
    <p:extLst>
      <p:ext uri="{BB962C8B-B14F-4D97-AF65-F5344CB8AC3E}">
        <p14:creationId xmlns:p14="http://schemas.microsoft.com/office/powerpoint/2010/main" val="2770406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4556CBE4-F522-D4D4-F468-AD9DE637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8CB3183A-A597-8B37-0A56-D983B8A8D728}"/>
              </a:ext>
            </a:extLst>
          </p:cNvPr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491E9579-F1E3-C6C2-A765-D5BD15E1F082}"/>
              </a:ext>
            </a:extLst>
          </p:cNvPr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3C19B8D6-ABEC-5EA4-8872-976CACD508BF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144C450A-7E58-821F-C9CF-A1901A18338F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CA51248B-313D-BBB9-CA3B-41D65D224C67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B4F8BFCC-6693-EDDF-90BE-2F62F4DA483D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7B6051A3-1285-D915-3D74-BE735871266C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7FC752E0-7557-E5CA-2A25-3AB6661BC228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DD79A0F3-8279-C9E5-8FAE-4F61E04BDAC1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DF3FAB4E-DCF8-B782-E287-92D2888AB1B1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E413EDE7-A454-200B-D5EB-64FA7D22641A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6E2E467B-B7B0-DD80-058B-CD3CA64CC95E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B80B102D-EDCE-366C-A36E-86AA49127977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2349E9C6-8CCD-4754-7126-77700BED384F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AF8AB058-6F64-0D2A-16A8-E5B7A02804CD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BF51375B-9756-A151-FEC7-87F1A4B889CA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EAC07CB6-47BE-15E0-CF06-520D8E224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/>
              <a:t>Benchmark Results</a:t>
            </a:r>
            <a:endParaRPr sz="3500" dirty="0"/>
          </a:p>
        </p:txBody>
      </p:sp>
      <p:sp>
        <p:nvSpPr>
          <p:cNvPr id="7" name="Google Shape;927;p43">
            <a:extLst>
              <a:ext uri="{FF2B5EF4-FFF2-40B4-BE49-F238E27FC236}">
                <a16:creationId xmlns:a16="http://schemas.microsoft.com/office/drawing/2014/main" id="{7FAE2B42-E036-4476-7366-CD065ED2B212}"/>
              </a:ext>
            </a:extLst>
          </p:cNvPr>
          <p:cNvSpPr txBox="1">
            <a:spLocks/>
          </p:cNvSpPr>
          <p:nvPr/>
        </p:nvSpPr>
        <p:spPr>
          <a:xfrm>
            <a:off x="1073228" y="3310651"/>
            <a:ext cx="6966314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39700" indent="0" algn="ctr"/>
            <a:r>
              <a:rPr lang="en-US" sz="1100" dirty="0"/>
              <a:t>Both algorithms remain similarly performant with varying degrees of leader crashes</a:t>
            </a:r>
            <a:endParaRPr lang="en-IN" sz="1100" dirty="0"/>
          </a:p>
        </p:txBody>
      </p:sp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64A666E-C795-942D-4AD0-01DD2B328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59" y="1565196"/>
            <a:ext cx="6997014" cy="201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41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C5669C7D-FE2A-FB40-60CD-5C4B5C60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9DED382C-34DF-56F2-B582-8588CD342E2D}"/>
              </a:ext>
            </a:extLst>
          </p:cNvPr>
          <p:cNvSpPr/>
          <p:nvPr/>
        </p:nvSpPr>
        <p:spPr>
          <a:xfrm>
            <a:off x="798350" y="1312675"/>
            <a:ext cx="7625650" cy="336848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934E8F2E-2F1F-25D8-4951-4E563E5EBF7A}"/>
              </a:ext>
            </a:extLst>
          </p:cNvPr>
          <p:cNvGrpSpPr/>
          <p:nvPr/>
        </p:nvGrpSpPr>
        <p:grpSpPr>
          <a:xfrm>
            <a:off x="7757208" y="4369682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F73D5912-5155-4682-3A73-DDC47022C824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E84EBEB7-2EF1-DCC9-1450-F3C690C0D5AD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539723C3-9E38-750B-62DD-74080C25944D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3F0354BC-F2BE-CDC2-821A-2464934FD250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D8020B8F-95FD-2C4A-7270-04C961D8293F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1A5EE74A-EE12-D46D-7B41-E16AABCC109E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59DA74FD-FAAD-0A34-9C15-726904A6C309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38948C84-8047-1431-E4AE-2557B8B60C07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77C6AC56-EBF3-AFE1-CAA4-E729C22E83BB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0595671B-0D8B-CD42-5ED9-3929E571FD26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271F65EF-CC85-C1BB-1963-A41412841EBE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D6BC6214-C097-E7E1-D5BF-D9725E45794E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FD909388-7A4E-817C-CCF5-227B93FB3A3B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267B9484-8855-0D9A-33CD-C3BE1EB89D87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696;p37">
            <a:extLst>
              <a:ext uri="{FF2B5EF4-FFF2-40B4-BE49-F238E27FC236}">
                <a16:creationId xmlns:a16="http://schemas.microsoft.com/office/drawing/2014/main" id="{A05CE1E9-A2DC-BA5D-E865-8111F6125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39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/>
              <a:t>Benchmark Results</a:t>
            </a:r>
            <a:endParaRPr sz="3500" dirty="0"/>
          </a:p>
        </p:txBody>
      </p:sp>
      <p:sp>
        <p:nvSpPr>
          <p:cNvPr id="7" name="Google Shape;927;p43">
            <a:extLst>
              <a:ext uri="{FF2B5EF4-FFF2-40B4-BE49-F238E27FC236}">
                <a16:creationId xmlns:a16="http://schemas.microsoft.com/office/drawing/2014/main" id="{63853059-7343-AA11-2C30-6E516BBB9069}"/>
              </a:ext>
            </a:extLst>
          </p:cNvPr>
          <p:cNvSpPr txBox="1">
            <a:spLocks/>
          </p:cNvSpPr>
          <p:nvPr/>
        </p:nvSpPr>
        <p:spPr>
          <a:xfrm>
            <a:off x="1088843" y="3389708"/>
            <a:ext cx="6966314" cy="10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39700" indent="0" algn="ctr"/>
            <a:r>
              <a:rPr lang="en-US" sz="1100" dirty="0"/>
              <a:t>Latencies tend to increase as cluster sizes increase for each algorithm. Increase in latency is largely consistent for Raft. ZAB tends to perform better on medium sized clusters.</a:t>
            </a:r>
            <a:endParaRPr lang="en-IN" sz="1100" dirty="0"/>
          </a:p>
        </p:txBody>
      </p:sp>
      <p:pic>
        <p:nvPicPr>
          <p:cNvPr id="3" name="Picture 2" descr="A graph with blue and purple bars&#10;&#10;AI-generated content may be incorrect.">
            <a:extLst>
              <a:ext uri="{FF2B5EF4-FFF2-40B4-BE49-F238E27FC236}">
                <a16:creationId xmlns:a16="http://schemas.microsoft.com/office/drawing/2014/main" id="{5DA6BF49-5DD3-8157-5202-134EE5DBD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9" y="1569612"/>
            <a:ext cx="6966314" cy="20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06907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810</Words>
  <Application>Microsoft Office PowerPoint</Application>
  <PresentationFormat>On-screen Show (16:9)</PresentationFormat>
  <Paragraphs>166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 Condensed Light</vt:lpstr>
      <vt:lpstr>Arial</vt:lpstr>
      <vt:lpstr>Fira Code</vt:lpstr>
      <vt:lpstr>Bebas Neue</vt:lpstr>
      <vt:lpstr>Chakra Petch Medium</vt:lpstr>
      <vt:lpstr>Computer Science &amp; Mathematics Major for College: Software &amp; Media Applications by Slidesgo</vt:lpstr>
      <vt:lpstr>Reaching a Consensus Comparing RAFT and ZAB</vt:lpstr>
      <vt:lpstr>What is Consensus?</vt:lpstr>
      <vt:lpstr>RAFT: made for clarity and implementability</vt:lpstr>
      <vt:lpstr>Implementation</vt:lpstr>
      <vt:lpstr>PowerPoint Presentation</vt:lpstr>
      <vt:lpstr>PowerPoint Presentation</vt:lpstr>
      <vt:lpstr>ZAB: Zookeeper Atomic Broadcast</vt:lpstr>
      <vt:lpstr>Implementation</vt:lpstr>
      <vt:lpstr>PowerPoint Presentation</vt:lpstr>
      <vt:lpstr>PowerPoint Presentation</vt:lpstr>
      <vt:lpstr>PowerPoint Presentation</vt:lpstr>
      <vt:lpstr>Tech Stack</vt:lpstr>
      <vt:lpstr>Each Node Includes</vt:lpstr>
      <vt:lpstr>PowerPoint Presentation</vt:lpstr>
      <vt:lpstr>Benchmark Results</vt:lpstr>
      <vt:lpstr>Benchmark Results</vt:lpstr>
      <vt:lpstr>Benchmark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 Khot</dc:creator>
  <cp:lastModifiedBy>Lalit Maurya</cp:lastModifiedBy>
  <cp:revision>11</cp:revision>
  <dcterms:modified xsi:type="dcterms:W3CDTF">2025-11-28T10:02:10Z</dcterms:modified>
</cp:coreProperties>
</file>